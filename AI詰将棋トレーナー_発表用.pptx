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2"/>
  </p:notesMasterIdLst>
  <p:sldIdLst>
    <p:sldId id="256" r:id="rId2"/>
    <p:sldId id="257" r:id="rId3"/>
    <p:sldId id="258" r:id="rId4"/>
    <p:sldId id="259" r:id="rId5"/>
    <p:sldId id="260" r:id="rId6"/>
    <p:sldId id="261" r:id="rId7"/>
    <p:sldId id="262" r:id="rId8"/>
    <p:sldId id="264" r:id="rId9"/>
    <p:sldId id="265" r:id="rId10"/>
    <p:sldId id="266" r:id="rId11"/>
    <p:sldId id="267" r:id="rId12"/>
    <p:sldId id="268" r:id="rId13"/>
    <p:sldId id="269" r:id="rId14"/>
    <p:sldId id="270" r:id="rId15"/>
    <p:sldId id="271" r:id="rId16"/>
    <p:sldId id="272" r:id="rId17"/>
    <p:sldId id="273" r:id="rId18"/>
    <p:sldId id="278" r:id="rId27"/>
    <p:sldId id="275" r:id="rId19"/>
    <p:sldId id="276" r:id="rId20"/>
    <p:sldId id="277" r:id="rId2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367"/>
    <p:restoredTop sz="94758"/>
  </p:normalViewPr>
  <p:slideViewPr>
    <p:cSldViewPr snapToGrid="0" snapToObjects="1">
      <p:cViewPr varScale="1">
        <p:scale>
          <a:sx n="101" d="100"/>
          <a:sy n="101" d="100"/>
        </p:scale>
        <p:origin x="792" y="18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9.xml"/><Relationship Id="rId20" Type="http://schemas.openxmlformats.org/officeDocument/2006/relationships/slide" Target="slides/slide20.xml"/><Relationship Id="rId21" Type="http://schemas.openxmlformats.org/officeDocument/2006/relationships/slide" Target="slides/slide21.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 Id="rId27"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56150131"/>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皆さん、こんにちは。チーム「ねるねるねるね」です。</a:t>
            </a:r>
          </a:p>
          <a:p>
            <a:r>
              <a:t>本日は私たちが開発した「AI詰将棋トレーナー」について発表します。</a:t>
            </a:r>
          </a:p>
          <a:p>
            <a:r>
              <a:t>これは、誰でも手軽に続けられる詰将棋トレーニングWebアプリです。</a:t>
            </a:r>
          </a:p>
          <a:p>
            <a:r>
              <a:t>それでは発表を始めさせていただきます。</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まず、このアプリのテーマについてです。</a:t>
            </a:r>
          </a:p>
          <a:p>
            <a:r>
              <a:t>「毎日1問、無理なく続く詰将棋トレーニング」を掲げています。</a:t>
            </a:r>
          </a:p>
          <a:p>
            <a:r>
              <a:t>詰将棋という将棋の学習法をWebアプリの形にし、毎日挑戦できる仕組みを用意することで、</a:t>
            </a:r>
          </a:p>
          <a:p>
            <a:r>
              <a:t>将棋力を段階的に伸ばせるようにしました。</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開発の背景には、詰将棋学習が抱える3つの課題がありました。</a:t>
            </a:r>
          </a:p>
          <a:p>
            <a:r>
              <a:t>1つ目は「続かない」。紙の問題集だけでは習慣になりにくいという点です。</a:t>
            </a:r>
          </a:p>
          <a:p>
            <a:r>
              <a:t>2つ目は「難しい」。初心者にはどう考えればよいか分かりにくいという点です。</a:t>
            </a:r>
          </a:p>
          <a:p>
            <a:r>
              <a:t>3つ目は「見えない」。自分の成長や結果が実感しにくいという点です。</a:t>
            </a:r>
          </a:p>
          <a:p>
            <a:r>
              <a:t>これらを解決するために、手軽に続けられて成長が見えるアプリを作ろうと考えました。</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こうした背景から、私たちは3つの目的を掲げて開発しました。</a:t>
            </a:r>
          </a:p>
          <a:p>
            <a:r>
              <a:t>誰でも手軽に始められる詰将棋学習にすること、</a:t>
            </a:r>
          </a:p>
          <a:p>
            <a:r>
              <a:t>毎日続けられる仕組みで習慣化すること、</a:t>
            </a:r>
          </a:p>
          <a:p>
            <a:r>
              <a:t>そして成績や記録が見えることで成長を実感できるようにすることです。</a:t>
            </a:r>
          </a:p>
          <a:p>
            <a:r>
              <a:t>つまり、詰将棋を「続けられる学び」に変えることが今回のゴールです。</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具体的な開発内容を紹介します。</a:t>
            </a:r>
          </a:p>
          <a:p>
            <a:r>
              <a:t>まず、合法手生成・王手判定・詰み判定を行う詰将棋ルールエンジンを自前で実装しました。</a:t>
            </a:r>
          </a:p>
          <a:p>
            <a:r>
              <a:t>このエンジンを使って、1手詰・3手詰・5手詰の問題を自動生成し、解の一意性まで検証しています。</a:t>
            </a:r>
          </a:p>
          <a:p>
            <a:r>
              <a:t>また、初心者がつまずかないよう4段階のヒント機能を用意し、</a:t>
            </a:r>
          </a:p>
          <a:p>
            <a:r>
              <a:t>毎日1問挑戦できるデイリーチャレンジと、レベル別に練習できる問題集を実装しました。</a:t>
            </a:r>
          </a:p>
          <a:p>
            <a:r>
              <a:t>そのほか、解答記録・ランキング・マイページ、ユーザー名だけで使えるログイン機能も備えています。</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使用技術です。</a:t>
            </a:r>
          </a:p>
          <a:p>
            <a:r>
              <a:t>フロントエンドはNext.jsのApp Routerを採用し、TypeScriptで型安全に実装しています。</a:t>
            </a:r>
          </a:p>
          <a:p>
            <a:r>
              <a:t>スタイリングにはTailwind CSSを、データベースと認証にはSupabase（PostgreSQL / Auth）を、</a:t>
            </a:r>
          </a:p>
          <a:p>
            <a:r>
              <a:t>ホスティングにはNetlifyを使用しています。</a:t>
            </a:r>
          </a:p>
          <a:p>
            <a:r>
              <a:t>重要な点として、将棋の詰み判定などのロジックはAI・LLMを一切使わず、</a:t>
            </a:r>
          </a:p>
          <a:p>
            <a:r>
              <a:t>すべて自前実装のルールエンジンで動作している点が特徴です。</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開発環境についてです。</a:t>
            </a:r>
          </a:p>
          <a:p>
            <a:r>
              <a:t>エディタはVisual Studio Code、言語・実行環境はNode.jsとTypeScript、</a:t>
            </a:r>
          </a:p>
          <a:p>
            <a:r>
              <a:t>バージョン管理はGitとGitHubを使用しています。</a:t>
            </a:r>
          </a:p>
          <a:p>
            <a:r>
              <a:t>コードの品質管理にはESLintを導入し、</a:t>
            </a:r>
          </a:p>
          <a:p>
            <a:r>
              <a:t>デプロイはGitHubと連携したNetlifyによって、pushすると自動でデプロイされる仕組みにしています。</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ここからは実際の画面を紹介します。まずホーム画面です。</a:t>
            </a:r>
          </a:p>
          <a:p>
            <a:r>
              <a:t>今日の問題にすぐ挑戦できるほか、問題集やランキングへもここから移動できます。</a:t>
            </a:r>
          </a:p>
          <a:p>
            <a:r>
              <a:t>ログインすれば、解答の記録を管理できるようになります。</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こちらは問題集の画面です。</a:t>
            </a:r>
          </a:p>
          <a:p>
            <a:r>
              <a:t>過去に出題された問題をいつでも復習できるようになっており、</a:t>
            </a:r>
          </a:p>
          <a:p>
            <a:r>
              <a:t>レベル別に絞り込んで探しやすくしています。</a:t>
            </a:r>
          </a:p>
          <a:p>
            <a:r>
              <a:t>繰り返し取り組めることで、継続的な学習につながる設計です。</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こちらはプレイ画面です。</a:t>
            </a:r>
          </a:p>
          <a:p>
            <a:r>
              <a:t>盤面を見ながら一手を考え、持ち駒を選んで指すことができます。</a:t>
            </a:r>
          </a:p>
          <a:p>
            <a:r>
              <a:t>分からないときはヒントを使うことで、詰まらずに最後まで進められるようにしています。</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こちらは盤面の見方を説明する画面です。</a:t>
            </a:r>
          </a:p>
          <a:p>
            <a:r>
              <a:t>玉の位置と、それを守る駒に注目することが詰将棋を解く第一歩になります。</a:t>
            </a:r>
          </a:p>
          <a:p>
            <a:r>
              <a:t>持ち駒をどこに打つかを考えることが、次の一手を見つける鍵になります。</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こちらはヒント機能の画面です。</a:t>
            </a:r>
          </a:p>
          <a:p>
            <a:r>
              <a:t>手が分からない時に、次の一手を考えるきっかけを与えてくれます。</a:t>
            </a:r>
          </a:p>
          <a:p>
            <a:r>
              <a:t>段階的にヒントの情報量が増えていくため、初心者でも途中で止まらずに進めることができます。</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こちらはデイリーチャレンジの画面です。</a:t>
            </a:r>
          </a:p>
          <a:p>
            <a:r>
              <a:t>毎日1問、新しい問題に挑戦できる仕組みになっており、</a:t>
            </a:r>
          </a:p>
          <a:p>
            <a:r>
              <a:t>これにより無理なく続けやすく、日々の積み重ねで成長しやすい設計にしています。</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こちらは結果・ランキングの画面です。</a:t>
            </a:r>
          </a:p>
          <a:p>
            <a:r>
              <a:t>スコア、正答率、解答時間、使用したヒント数などが表示されます。</a:t>
            </a:r>
          </a:p>
          <a:p>
            <a:r>
              <a:t>自分の結果が見えることで、達成感が生まれ、継続のモチベーションにつながります。</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開発で工夫した点は大きく3つあります。</a:t>
            </a:r>
          </a:p>
          <a:p>
            <a:r>
              <a:t>1つ目は「見やすさ」。画面や盤面を大きく表示し、見やすさにこだわりました。</a:t>
            </a:r>
          </a:p>
          <a:p>
            <a:r>
              <a:t>2つ目は「続けやすさ」。毎日挑戦できる仕組みとランキングで、続ける動機づけを作りました。</a:t>
            </a:r>
          </a:p>
          <a:p>
            <a:r>
              <a:t>3つ目は「正確さ」。指し手の正誤判定を重視し、サーバー側で厳密にチェックしています。</a:t>
            </a:r>
          </a:p>
          <a:p>
            <a:r>
              <a:t>全体を通して、初心者でも「分かる・続けられる」ことを意識して開発しました。</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開発で苦労した点も紹介します。</a:t>
            </a:r>
          </a:p>
          <a:p>
            <a:r>
              <a:t>SupabaseのAPIキーには新旧2つの形式があり、それを取り違えて接続エラーが発生しました。</a:t>
            </a:r>
          </a:p>
          <a:p>
            <a:r>
              <a:t>また、Netlifyの環境変数は、キャッシュを消して再デプロイしないと反映されないという点にも苦労しました。</a:t>
            </a:r>
          </a:p>
          <a:p>
            <a:r>
              <a:t>ロジック面では、詰将棋の「余詰めチェック」で、解が一意かどうかの判定と、解が存在するかどうかの判定を</a:t>
            </a:r>
          </a:p>
          <a:p>
            <a:r>
              <a:t>混同してしまうバグを発見し、修正しました。</a:t>
            </a:r>
          </a:p>
          <a:p>
            <a:r>
              <a:t>さらに、1手詰めの生成パターンが「頭金」という形に偏ってしまう問題を統計的に検証し、是正しました。</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私たちのアピールポイントです。</a:t>
            </a:r>
          </a:p>
          <a:p>
            <a:r>
              <a:t>まず、AI・LLMを使わず、ルールベースの全探索によって問題を自動生成している点です。</a:t>
            </a:r>
          </a:p>
          <a:p>
            <a:r>
              <a:t>生成した問題は、必ず詰み手順が一意であることを検証してから採用しています。</a:t>
            </a:r>
          </a:p>
          <a:p>
            <a:r>
              <a:t>難易度はLv.1・Lv.3・Lv.5の3段階で、初心者から挑戦できる設計です。</a:t>
            </a:r>
          </a:p>
          <a:p>
            <a:r>
              <a:t>また、指し手はクライアントを信用せずサーバー側で毎回再検証しており、不正な回答を防止しています。</a:t>
            </a:r>
          </a:p>
          <a:p>
            <a:r>
              <a:t>デイリーチャレンジと7種類のランキングによって、毎日続けたくなる工夫も盛り込んでいます。</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現状の課題についても触れておきます。</a:t>
            </a:r>
          </a:p>
          <a:p>
            <a:r>
              <a:t>解説文は現状、定型文での説明にとどまっており、AIによる自動生成はまだ実現できていません。</a:t>
            </a:r>
          </a:p>
          <a:p>
            <a:r>
              <a:t>称号・バッジ機能や、問題を管理する管理者画面も未実装です。</a:t>
            </a:r>
          </a:p>
          <a:p>
            <a:r>
              <a:t>また、詰将棋のルールとして重要な「無駄合」の厳密な判定にはまだ対応できていません。</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今後の展望です。</a:t>
            </a:r>
          </a:p>
          <a:p>
            <a:r>
              <a:t>解説文の自動生成をAIで高度化していきたいと考えています。</a:t>
            </a:r>
          </a:p>
          <a:p>
            <a:r>
              <a:t>称号・バッジ機能を追加し、ユーザーの達成感をさらに強化したいです。</a:t>
            </a:r>
          </a:p>
          <a:p>
            <a:r>
              <a:t>管理者画面を整備して問題管理を効率化するほか、</a:t>
            </a:r>
          </a:p>
          <a:p>
            <a:r>
              <a:t>スマートフォンでの操作性についても、さらに最適化を進めていきます。</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最後にまとめです。</a:t>
            </a:r>
          </a:p>
          <a:p>
            <a:r>
              <a:t>AI詰将棋トレーナーは、誰でも手軽に詰将棋を学べるWebアプリとして開発しました。</a:t>
            </a:r>
          </a:p>
          <a:p>
            <a:r>
              <a:t>挑戦・ヒント・記録という3つの要素を通じて、実現できたことがある一方、</a:t>
            </a:r>
          </a:p>
          <a:p>
            <a:r>
              <a:t>問題数の追加やスマホ最適化など、今後改善したい点も見えています。</a:t>
            </a:r>
          </a:p>
          <a:p>
            <a:r>
              <a:t>ご清聴ありがとうございました。</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p:txBody>
          <a:bodyPr/>
          <a:lstStyle/>
          <a:p>
            <a:r>
              <a:t>それでは、実際にアプリを操作してご覧に入れます。</a:t>
            </a:r>
          </a:p>
          <a:p>
            <a:r>
              <a:t>流れとしては、問題を選ぶ、盤面を見て一手を考えて解く、そして結果を確認する、という3ステップです。</a:t>
            </a:r>
          </a:p>
          <a:p>
            <a:r>
              <a:t>誰でも迷わず使える簡単な操作性になっていますので、ここで実演します。</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7/23/26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7/23/26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7/23/26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7/23/26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7/23/26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7/23/26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7/23/26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7/23/26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7/23/26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7/23/26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7/23/26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7/23/26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png"/><Relationship Id="rId6" Type="http://schemas.openxmlformats.org/officeDocument/2006/relationships/image" Target="../media/image4.png"/><Relationship Id="rId7"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image" Target="../media/image8.png"/><Relationship Id="rId6" Type="http://schemas.openxmlformats.org/officeDocument/2006/relationships/image" Target="../media/image9.png"/><Relationship Id="rId7" Type="http://schemas.openxmlformats.org/officeDocument/2006/relationships/image" Target="../media/image10.png"/><Relationship Id="rId8" Type="http://schemas.openxmlformats.org/officeDocument/2006/relationships/image" Target="../media/image11.png"/><Relationship Id="rId9" Type="http://schemas.openxmlformats.org/officeDocument/2006/relationships/image" Target="../media/image1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1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1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1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1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image1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image" Target="../media/image18.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image" Target="../media/image19.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8458200" y="164592"/>
            <a:ext cx="2423160" cy="274320"/>
          </a:xfrm>
          <a:prstGeom prst="rect">
            <a:avLst/>
          </a:prstGeom>
          <a:noFill/>
        </p:spPr>
        <p:txBody>
          <a:bodyPr wrap="none" lIns="0" tIns="0" rIns="0" bIns="0" anchor="t">
            <a:spAutoFit/>
          </a:bodyPr>
          <a:lstStyle/>
          <a:p>
            <a:pPr algn="r">
              <a:lnSpc>
                <a:spcPct val="115000"/>
              </a:lnSpc>
            </a:pPr>
            <a:r>
              <a:rPr sz="1400" b="0">
                <a:solidFill>
                  <a:srgbClr val="5C5C5C"/>
                </a:solidFill>
                <a:latin typeface="BIZ UDGothic"/>
                <a:ea typeface="BIZ UDGothic"/>
              </a:rPr>
              <a:t>チーム：ねるねるねるね</a:t>
            </a:r>
          </a:p>
        </p:txBody>
      </p:sp>
      <p:sp>
        <p:nvSpPr>
          <p:cNvPr id="3" name="TextBox 2"/>
          <p:cNvSpPr txBox="1"/>
          <p:nvPr/>
        </p:nvSpPr>
        <p:spPr>
          <a:xfrm>
            <a:off x="900000" y="2700000"/>
            <a:ext cx="10400000" cy="1200000"/>
          </a:xfrm>
          <a:prstGeom prst="rect">
            <a:avLst/>
          </a:prstGeom>
          <a:noFill/>
        </p:spPr>
        <p:txBody>
          <a:bodyPr wrap="none" lIns="0" tIns="0" rIns="0" bIns="0" anchor="t">
            <a:spAutoFit/>
          </a:bodyPr>
          <a:lstStyle/>
          <a:p>
            <a:pPr algn="ctr">
              <a:lnSpc>
                <a:spcPct val="115000"/>
              </a:lnSpc>
            </a:pPr>
            <a:r>
              <a:rPr sz="6000" b="1">
                <a:solidFill>
                  <a:srgbClr val="212121"/>
                </a:solidFill>
                <a:latin typeface="BIZ UDGothic"/>
                <a:ea typeface="BIZ UDGothic"/>
              </a:rPr>
              <a:t>AI詰将棋トレーナー</a:t>
            </a:r>
          </a:p>
        </p:txBody>
      </p:sp>
      <p:sp>
        <p:nvSpPr>
          <p:cNvPr id="4" name="TextBox 3"/>
          <p:cNvSpPr txBox="1"/>
          <p:nvPr/>
        </p:nvSpPr>
        <p:spPr>
          <a:xfrm>
            <a:off x="900000" y="3900000"/>
            <a:ext cx="10400000" cy="500000"/>
          </a:xfrm>
          <a:prstGeom prst="rect">
            <a:avLst/>
          </a:prstGeom>
          <a:noFill/>
        </p:spPr>
        <p:txBody>
          <a:bodyPr wrap="none" lIns="0" tIns="0" rIns="0" bIns="0" anchor="t">
            <a:spAutoFit/>
          </a:bodyPr>
          <a:lstStyle/>
          <a:p>
            <a:pPr algn="ctr">
              <a:lnSpc>
                <a:spcPct val="115000"/>
              </a:lnSpc>
            </a:pPr>
            <a:r>
              <a:rPr sz="2600" b="0">
                <a:solidFill>
                  <a:srgbClr val="5C5C5C"/>
                </a:solidFill>
                <a:latin typeface="BIZ UDGothic"/>
                <a:ea typeface="BIZ UDGothic"/>
              </a:rPr>
              <a:t>誰でも続けられる詰将棋トレーニングWebアプリ</a:t>
            </a:r>
          </a:p>
        </p:txBody>
      </p:sp>
      <p:sp>
        <p:nvSpPr>
          <p:cNvPr id="5" name="Rectangle 4"/>
          <p:cNvSpPr/>
          <p:nvPr/>
        </p:nvSpPr>
        <p:spPr>
          <a:xfrm>
            <a:off x="4596000" y="4500000"/>
            <a:ext cx="3000000" cy="30000"/>
          </a:xfrm>
          <a:prstGeom prst="rect">
            <a:avLst/>
          </a:prstGeom>
          <a:solidFill>
            <a:srgbClr val="E67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0" y="6565392"/>
            <a:ext cx="12191695" cy="292608"/>
          </a:xfrm>
          <a:prstGeom prst="rect">
            <a:avLst/>
          </a:prstGeom>
          <a:solidFill>
            <a:srgbClr val="E67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251960" y="6601968"/>
            <a:ext cx="3657600" cy="201168"/>
          </a:xfrm>
          <a:prstGeom prst="rect">
            <a:avLst/>
          </a:prstGeom>
          <a:noFill/>
        </p:spPr>
        <p:txBody>
          <a:bodyPr wrap="none" lIns="0" tIns="0" rIns="0" bIns="0" anchor="t">
            <a:spAutoFit/>
          </a:bodyPr>
          <a:lstStyle/>
          <a:p>
            <a:pPr algn="ctr">
              <a:lnSpc>
                <a:spcPct val="115000"/>
              </a:lnSpc>
            </a:pPr>
            <a:r>
              <a:rPr sz="1200" b="1">
                <a:solidFill>
                  <a:srgbClr val="FFFFFF"/>
                </a:solidFill>
                <a:latin typeface="BIZ UDGothic"/>
                <a:ea typeface="BIZ UDGothic"/>
              </a:rPr>
              <a:t>AI詰将棋トレーナー　発表資料</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8458200" y="164592"/>
            <a:ext cx="2423160" cy="274320"/>
          </a:xfrm>
          <a:prstGeom prst="rect">
            <a:avLst/>
          </a:prstGeom>
          <a:noFill/>
        </p:spPr>
        <p:txBody>
          <a:bodyPr wrap="none" lIns="0" tIns="0" rIns="0" bIns="0" anchor="t">
            <a:spAutoFit/>
          </a:bodyPr>
          <a:lstStyle/>
          <a:p>
            <a:pPr algn="r">
              <a:lnSpc>
                <a:spcPct val="115000"/>
              </a:lnSpc>
            </a:pPr>
            <a:r>
              <a:rPr sz="1400" b="0">
                <a:solidFill>
                  <a:srgbClr val="5C5C5C"/>
                </a:solidFill>
                <a:latin typeface="BIZ UDGothic"/>
                <a:ea typeface="BIZ UDGothic"/>
              </a:rPr>
              <a:t>チーム：ねるねるねるね</a:t>
            </a:r>
          </a:p>
        </p:txBody>
      </p:sp>
      <p:sp>
        <p:nvSpPr>
          <p:cNvPr id="3" name="TextBox 2"/>
          <p:cNvSpPr txBox="1"/>
          <p:nvPr/>
        </p:nvSpPr>
        <p:spPr>
          <a:xfrm>
            <a:off x="411480" y="300000"/>
            <a:ext cx="9500000" cy="560000"/>
          </a:xfrm>
          <a:prstGeom prst="rect">
            <a:avLst/>
          </a:prstGeom>
          <a:noFill/>
        </p:spPr>
        <p:txBody>
          <a:bodyPr wrap="none" lIns="0" tIns="0" rIns="0" bIns="0" anchor="t">
            <a:spAutoFit/>
          </a:bodyPr>
          <a:lstStyle/>
          <a:p>
            <a:pPr algn="l">
              <a:lnSpc>
                <a:spcPct val="115000"/>
              </a:lnSpc>
            </a:pPr>
            <a:r>
              <a:rPr sz="4000" b="1">
                <a:solidFill>
                  <a:srgbClr val="212121"/>
                </a:solidFill>
                <a:latin typeface="BIZ UDGothic"/>
                <a:ea typeface="BIZ UDGothic"/>
              </a:rPr>
              <a:t>1. テーマ</a:t>
            </a:r>
          </a:p>
        </p:txBody>
      </p:sp>
      <p:sp>
        <p:nvSpPr>
          <p:cNvPr id="4" name="Rectangle 3"/>
          <p:cNvSpPr/>
          <p:nvPr/>
        </p:nvSpPr>
        <p:spPr>
          <a:xfrm>
            <a:off x="411480" y="1080000"/>
            <a:ext cx="10789920" cy="22860"/>
          </a:xfrm>
          <a:prstGeom prst="rect">
            <a:avLst/>
          </a:prstGeom>
          <a:solidFill>
            <a:srgbClr val="E67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11201400" y="292608"/>
            <a:ext cx="384048" cy="384048"/>
          </a:xfrm>
          <a:prstGeom prst="ellipse">
            <a:avLst/>
          </a:prstGeom>
          <a:solidFill>
            <a:srgbClr val="E67000"/>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800" b="1">
                <a:solidFill>
                  <a:srgbClr val="FFFFFF"/>
                </a:solidFill>
                <a:latin typeface="BIZ UDGothic"/>
                <a:ea typeface="BIZ UDGothic"/>
              </a:rPr>
              <a:t>1</a:t>
            </a:r>
          </a:p>
        </p:txBody>
      </p:sp>
      <p:sp>
        <p:nvSpPr>
          <p:cNvPr id="6" name="Rectangle 5"/>
          <p:cNvSpPr/>
          <p:nvPr/>
        </p:nvSpPr>
        <p:spPr>
          <a:xfrm>
            <a:off x="0" y="6565392"/>
            <a:ext cx="12191695" cy="292608"/>
          </a:xfrm>
          <a:prstGeom prst="rect">
            <a:avLst/>
          </a:prstGeom>
          <a:solidFill>
            <a:srgbClr val="E67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251960" y="6601968"/>
            <a:ext cx="3657600" cy="201168"/>
          </a:xfrm>
          <a:prstGeom prst="rect">
            <a:avLst/>
          </a:prstGeom>
          <a:noFill/>
        </p:spPr>
        <p:txBody>
          <a:bodyPr wrap="none" lIns="0" tIns="0" rIns="0" bIns="0" anchor="t">
            <a:spAutoFit/>
          </a:bodyPr>
          <a:lstStyle/>
          <a:p>
            <a:pPr algn="ctr">
              <a:lnSpc>
                <a:spcPct val="115000"/>
              </a:lnSpc>
            </a:pPr>
            <a:r>
              <a:rPr sz="1200" b="1">
                <a:solidFill>
                  <a:srgbClr val="FFFFFF"/>
                </a:solidFill>
                <a:latin typeface="BIZ UDGothic"/>
                <a:ea typeface="BIZ UDGothic"/>
              </a:rPr>
              <a:t>AI詰将棋トレーナー　発表資料</a:t>
            </a:r>
          </a:p>
        </p:txBody>
      </p:sp>
      <p:sp>
        <p:nvSpPr>
          <p:cNvPr id="8" name="TextBox 7"/>
          <p:cNvSpPr txBox="1"/>
          <p:nvPr/>
        </p:nvSpPr>
        <p:spPr>
          <a:xfrm>
            <a:off x="900000" y="2500000"/>
            <a:ext cx="10400000" cy="900000"/>
          </a:xfrm>
          <a:prstGeom prst="rect">
            <a:avLst/>
          </a:prstGeom>
          <a:noFill/>
        </p:spPr>
        <p:txBody>
          <a:bodyPr wrap="none" lIns="0" tIns="0" rIns="0" bIns="0" anchor="t">
            <a:spAutoFit/>
          </a:bodyPr>
          <a:lstStyle/>
          <a:p>
            <a:pPr algn="ctr">
              <a:lnSpc>
                <a:spcPct val="115000"/>
              </a:lnSpc>
            </a:pPr>
            <a:r>
              <a:rPr sz="4400" b="1">
                <a:solidFill>
                  <a:srgbClr val="E67000"/>
                </a:solidFill>
                <a:latin typeface="BIZ UDGothic"/>
                <a:ea typeface="BIZ UDGothic"/>
              </a:rPr>
              <a:t>毎日1問、無理なく続く詰将棋の練習</a:t>
            </a:r>
          </a:p>
        </p:txBody>
      </p:sp>
      <p:sp>
        <p:nvSpPr>
          <p:cNvPr id="9" name="TextBox 8"/>
          <p:cNvSpPr txBox="1"/>
          <p:nvPr/>
        </p:nvSpPr>
        <p:spPr>
          <a:xfrm>
            <a:off x="1600000" y="3700000"/>
            <a:ext cx="9000000" cy="1500000"/>
          </a:xfrm>
          <a:prstGeom prst="rect">
            <a:avLst/>
          </a:prstGeom>
          <a:noFill/>
        </p:spPr>
        <p:txBody>
          <a:bodyPr wrap="square" lIns="0" tIns="0" rIns="0" bIns="0">
            <a:spAutoFit/>
          </a:bodyPr>
          <a:lstStyle/>
          <a:p>
            <a:pPr>
              <a:lnSpc>
                <a:spcPct val="120000"/>
              </a:lnSpc>
              <a:spcAft>
                <a:spcPts val="1400"/>
              </a:spcAft>
            </a:pPr>
            <a:r>
              <a:rPr sz="3200" b="0">
                <a:solidFill>
                  <a:srgbClr val="212121"/>
                </a:solidFill>
                <a:latin typeface="BIZ UDGothic"/>
                <a:ea typeface="BIZ UDGothic"/>
              </a:rPr>
              <a:t>・ 詰将棋 × Web アプリ</a:t>
            </a:r>
          </a:p>
          <a:p>
            <a:pPr>
              <a:lnSpc>
                <a:spcPct val="120000"/>
              </a:lnSpc>
              <a:spcAft>
                <a:spcPts val="1400"/>
              </a:spcAft>
            </a:pPr>
            <a:r>
              <a:rPr sz="3200" b="0">
                <a:solidFill>
                  <a:srgbClr val="212121"/>
                </a:solidFill>
                <a:latin typeface="BIZ UDGothic"/>
                <a:ea typeface="BIZ UDGothic"/>
              </a:rPr>
              <a:t>・ 毎日挑戦して将棋力を伸ばす</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8458200" y="164592"/>
            <a:ext cx="2423160" cy="274320"/>
          </a:xfrm>
          <a:prstGeom prst="rect">
            <a:avLst/>
          </a:prstGeom>
          <a:noFill/>
        </p:spPr>
        <p:txBody>
          <a:bodyPr wrap="none" lIns="0" tIns="0" rIns="0" bIns="0" anchor="t">
            <a:spAutoFit/>
          </a:bodyPr>
          <a:lstStyle/>
          <a:p>
            <a:pPr algn="r">
              <a:lnSpc>
                <a:spcPct val="115000"/>
              </a:lnSpc>
            </a:pPr>
            <a:r>
              <a:rPr sz="1400" b="0">
                <a:solidFill>
                  <a:srgbClr val="5C5C5C"/>
                </a:solidFill>
                <a:latin typeface="BIZ UDGothic"/>
                <a:ea typeface="BIZ UDGothic"/>
              </a:rPr>
              <a:t>チーム：ねるねるねるね</a:t>
            </a:r>
          </a:p>
        </p:txBody>
      </p:sp>
      <p:sp>
        <p:nvSpPr>
          <p:cNvPr id="3" name="TextBox 2"/>
          <p:cNvSpPr txBox="1"/>
          <p:nvPr/>
        </p:nvSpPr>
        <p:spPr>
          <a:xfrm>
            <a:off x="411480" y="300000"/>
            <a:ext cx="9500000" cy="560000"/>
          </a:xfrm>
          <a:prstGeom prst="rect">
            <a:avLst/>
          </a:prstGeom>
          <a:noFill/>
        </p:spPr>
        <p:txBody>
          <a:bodyPr wrap="none" lIns="0" tIns="0" rIns="0" bIns="0" anchor="t">
            <a:spAutoFit/>
          </a:bodyPr>
          <a:lstStyle/>
          <a:p>
            <a:pPr algn="l">
              <a:lnSpc>
                <a:spcPct val="115000"/>
              </a:lnSpc>
            </a:pPr>
            <a:r>
              <a:rPr sz="4000" b="1">
                <a:solidFill>
                  <a:srgbClr val="212121"/>
                </a:solidFill>
                <a:latin typeface="BIZ UDGothic"/>
                <a:ea typeface="BIZ UDGothic"/>
              </a:rPr>
              <a:t>2. 背景</a:t>
            </a:r>
          </a:p>
        </p:txBody>
      </p:sp>
      <p:sp>
        <p:nvSpPr>
          <p:cNvPr id="4" name="Rectangle 3"/>
          <p:cNvSpPr/>
          <p:nvPr/>
        </p:nvSpPr>
        <p:spPr>
          <a:xfrm>
            <a:off x="411480" y="1080000"/>
            <a:ext cx="10789920" cy="22860"/>
          </a:xfrm>
          <a:prstGeom prst="rect">
            <a:avLst/>
          </a:prstGeom>
          <a:solidFill>
            <a:srgbClr val="E67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11201400" y="292608"/>
            <a:ext cx="384048" cy="384048"/>
          </a:xfrm>
          <a:prstGeom prst="ellipse">
            <a:avLst/>
          </a:prstGeom>
          <a:solidFill>
            <a:srgbClr val="E67000"/>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800" b="1">
                <a:solidFill>
                  <a:srgbClr val="FFFFFF"/>
                </a:solidFill>
                <a:latin typeface="BIZ UDGothic"/>
                <a:ea typeface="BIZ UDGothic"/>
              </a:rPr>
              <a:t>2</a:t>
            </a:r>
          </a:p>
        </p:txBody>
      </p:sp>
      <p:sp>
        <p:nvSpPr>
          <p:cNvPr id="6" name="Rectangle 5"/>
          <p:cNvSpPr/>
          <p:nvPr/>
        </p:nvSpPr>
        <p:spPr>
          <a:xfrm>
            <a:off x="0" y="6565392"/>
            <a:ext cx="12191695" cy="292608"/>
          </a:xfrm>
          <a:prstGeom prst="rect">
            <a:avLst/>
          </a:prstGeom>
          <a:solidFill>
            <a:srgbClr val="E67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251960" y="6601968"/>
            <a:ext cx="3657600" cy="201168"/>
          </a:xfrm>
          <a:prstGeom prst="rect">
            <a:avLst/>
          </a:prstGeom>
          <a:noFill/>
        </p:spPr>
        <p:txBody>
          <a:bodyPr wrap="none" lIns="0" tIns="0" rIns="0" bIns="0" anchor="t">
            <a:spAutoFit/>
          </a:bodyPr>
          <a:lstStyle/>
          <a:p>
            <a:pPr algn="ctr">
              <a:lnSpc>
                <a:spcPct val="115000"/>
              </a:lnSpc>
            </a:pPr>
            <a:r>
              <a:rPr sz="1200" b="1">
                <a:solidFill>
                  <a:srgbClr val="FFFFFF"/>
                </a:solidFill>
                <a:latin typeface="BIZ UDGothic"/>
                <a:ea typeface="BIZ UDGothic"/>
              </a:rPr>
              <a:t>AI詰将棋トレーナー　発表資料</a:t>
            </a:r>
          </a:p>
        </p:txBody>
      </p:sp>
      <p:sp>
        <p:nvSpPr>
          <p:cNvPr id="8" name="Rounded Rectangle 7"/>
          <p:cNvSpPr/>
          <p:nvPr/>
        </p:nvSpPr>
        <p:spPr>
          <a:xfrm>
            <a:off x="700000" y="1600000"/>
            <a:ext cx="3450000" cy="850000"/>
          </a:xfrm>
          <a:prstGeom prst="roundRect">
            <a:avLst/>
          </a:prstGeom>
          <a:solidFill>
            <a:srgbClr val="FDECD8"/>
          </a:solidFill>
          <a:ln w="19050">
            <a:solidFill>
              <a:srgbClr val="E6700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3200" b="1">
                <a:solidFill>
                  <a:srgbClr val="212121"/>
                </a:solidFill>
                <a:latin typeface="BIZ UDGothic"/>
                <a:ea typeface="BIZ UDGothic"/>
              </a:rPr>
              <a:t>続かない</a:t>
            </a:r>
          </a:p>
        </p:txBody>
      </p:sp>
      <p:sp>
        <p:nvSpPr>
          <p:cNvPr id="9" name="TextBox 8"/>
          <p:cNvSpPr txBox="1"/>
          <p:nvPr/>
        </p:nvSpPr>
        <p:spPr>
          <a:xfrm>
            <a:off x="700000" y="2620000"/>
            <a:ext cx="3450000" cy="1300000"/>
          </a:xfrm>
          <a:prstGeom prst="rect">
            <a:avLst/>
          </a:prstGeom>
          <a:noFill/>
        </p:spPr>
        <p:txBody>
          <a:bodyPr wrap="square" lIns="0" tIns="0" rIns="0" bIns="0" anchor="t">
            <a:spAutoFit/>
          </a:bodyPr>
          <a:lstStyle/>
          <a:p>
            <a:pPr algn="ctr">
              <a:lnSpc>
                <a:spcPct val="115000"/>
              </a:lnSpc>
            </a:pPr>
            <a:r>
              <a:rPr sz="2400" b="0">
                <a:solidFill>
                  <a:srgbClr val="212121"/>
                </a:solidFill>
                <a:latin typeface="BIZ UDGothic"/>
                <a:ea typeface="BIZ UDGothic"/>
              </a:rPr>
              <a:t>紙だけだと</a:t>
            </a:r>
          </a:p>
          <a:p>
            <a:pPr algn="ctr">
              <a:lnSpc>
                <a:spcPct val="115000"/>
              </a:lnSpc>
            </a:pPr>
            <a:r>
              <a:rPr sz="2400" b="0">
                <a:solidFill>
                  <a:srgbClr val="212121"/>
                </a:solidFill>
                <a:latin typeface="BIZ UDGothic"/>
                <a:ea typeface="BIZ UDGothic"/>
              </a:rPr>
              <a:t>習慣にしにくい</a:t>
            </a:r>
          </a:p>
        </p:txBody>
      </p:sp>
      <p:sp>
        <p:nvSpPr>
          <p:cNvPr id="10" name="Rounded Rectangle 9"/>
          <p:cNvSpPr/>
          <p:nvPr/>
        </p:nvSpPr>
        <p:spPr>
          <a:xfrm>
            <a:off x="4500000" y="1600000"/>
            <a:ext cx="3450000" cy="850000"/>
          </a:xfrm>
          <a:prstGeom prst="roundRect">
            <a:avLst/>
          </a:prstGeom>
          <a:solidFill>
            <a:srgbClr val="FDECD8"/>
          </a:solidFill>
          <a:ln w="19050">
            <a:solidFill>
              <a:srgbClr val="E6700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3200" b="1">
                <a:solidFill>
                  <a:srgbClr val="212121"/>
                </a:solidFill>
                <a:latin typeface="BIZ UDGothic"/>
                <a:ea typeface="BIZ UDGothic"/>
              </a:rPr>
              <a:t>難しい</a:t>
            </a:r>
          </a:p>
        </p:txBody>
      </p:sp>
      <p:sp>
        <p:nvSpPr>
          <p:cNvPr id="11" name="TextBox 10"/>
          <p:cNvSpPr txBox="1"/>
          <p:nvPr/>
        </p:nvSpPr>
        <p:spPr>
          <a:xfrm>
            <a:off x="4500000" y="2620000"/>
            <a:ext cx="3450000" cy="1300000"/>
          </a:xfrm>
          <a:prstGeom prst="rect">
            <a:avLst/>
          </a:prstGeom>
          <a:noFill/>
        </p:spPr>
        <p:txBody>
          <a:bodyPr wrap="square" lIns="0" tIns="0" rIns="0" bIns="0" anchor="t">
            <a:spAutoFit/>
          </a:bodyPr>
          <a:lstStyle/>
          <a:p>
            <a:pPr algn="ctr">
              <a:lnSpc>
                <a:spcPct val="115000"/>
              </a:lnSpc>
            </a:pPr>
            <a:r>
              <a:rPr sz="2400" b="0">
                <a:solidFill>
                  <a:srgbClr val="212121"/>
                </a:solidFill>
                <a:latin typeface="BIZ UDGothic"/>
                <a:ea typeface="BIZ UDGothic"/>
              </a:rPr>
              <a:t>初心者には</a:t>
            </a:r>
          </a:p>
          <a:p>
            <a:pPr algn="ctr">
              <a:lnSpc>
                <a:spcPct val="115000"/>
              </a:lnSpc>
            </a:pPr>
            <a:r>
              <a:rPr sz="2400" b="0">
                <a:solidFill>
                  <a:srgbClr val="212121"/>
                </a:solidFill>
                <a:latin typeface="BIZ UDGothic"/>
                <a:ea typeface="BIZ UDGothic"/>
              </a:rPr>
              <a:t>考え方が分かりにくい</a:t>
            </a:r>
          </a:p>
        </p:txBody>
      </p:sp>
      <p:sp>
        <p:nvSpPr>
          <p:cNvPr id="12" name="Rounded Rectangle 11"/>
          <p:cNvSpPr/>
          <p:nvPr/>
        </p:nvSpPr>
        <p:spPr>
          <a:xfrm>
            <a:off x="8300000" y="1600000"/>
            <a:ext cx="3450000" cy="850000"/>
          </a:xfrm>
          <a:prstGeom prst="roundRect">
            <a:avLst/>
          </a:prstGeom>
          <a:solidFill>
            <a:srgbClr val="FDECD8"/>
          </a:solidFill>
          <a:ln w="19050">
            <a:solidFill>
              <a:srgbClr val="E6700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3200" b="1">
                <a:solidFill>
                  <a:srgbClr val="212121"/>
                </a:solidFill>
                <a:latin typeface="BIZ UDGothic"/>
                <a:ea typeface="BIZ UDGothic"/>
              </a:rPr>
              <a:t>見えない</a:t>
            </a:r>
          </a:p>
        </p:txBody>
      </p:sp>
      <p:sp>
        <p:nvSpPr>
          <p:cNvPr id="13" name="TextBox 12"/>
          <p:cNvSpPr txBox="1"/>
          <p:nvPr/>
        </p:nvSpPr>
        <p:spPr>
          <a:xfrm>
            <a:off x="8300000" y="2620000"/>
            <a:ext cx="3450000" cy="1300000"/>
          </a:xfrm>
          <a:prstGeom prst="rect">
            <a:avLst/>
          </a:prstGeom>
          <a:noFill/>
        </p:spPr>
        <p:txBody>
          <a:bodyPr wrap="square" lIns="0" tIns="0" rIns="0" bIns="0" anchor="t">
            <a:spAutoFit/>
          </a:bodyPr>
          <a:lstStyle/>
          <a:p>
            <a:pPr algn="ctr">
              <a:lnSpc>
                <a:spcPct val="115000"/>
              </a:lnSpc>
            </a:pPr>
            <a:r>
              <a:rPr sz="2400" b="0">
                <a:solidFill>
                  <a:srgbClr val="212121"/>
                </a:solidFill>
                <a:latin typeface="BIZ UDGothic"/>
                <a:ea typeface="BIZ UDGothic"/>
              </a:rPr>
              <a:t>成長や結果が</a:t>
            </a:r>
          </a:p>
          <a:p>
            <a:pPr algn="ctr">
              <a:lnSpc>
                <a:spcPct val="115000"/>
              </a:lnSpc>
            </a:pPr>
            <a:r>
              <a:rPr sz="2400" b="0">
                <a:solidFill>
                  <a:srgbClr val="212121"/>
                </a:solidFill>
                <a:latin typeface="BIZ UDGothic"/>
                <a:ea typeface="BIZ UDGothic"/>
              </a:rPr>
              <a:t>分かりにくい</a:t>
            </a:r>
          </a:p>
        </p:txBody>
      </p:sp>
      <p:sp>
        <p:nvSpPr>
          <p:cNvPr id="14" name="TextBox 13"/>
          <p:cNvSpPr txBox="1"/>
          <p:nvPr/>
        </p:nvSpPr>
        <p:spPr>
          <a:xfrm>
            <a:off x="700000" y="4300000"/>
            <a:ext cx="10800000" cy="700000"/>
          </a:xfrm>
          <a:prstGeom prst="rect">
            <a:avLst/>
          </a:prstGeom>
          <a:noFill/>
        </p:spPr>
        <p:txBody>
          <a:bodyPr wrap="none" lIns="0" tIns="0" rIns="0" bIns="0" anchor="t">
            <a:spAutoFit/>
          </a:bodyPr>
          <a:lstStyle/>
          <a:p>
            <a:pPr algn="ctr">
              <a:lnSpc>
                <a:spcPct val="115000"/>
              </a:lnSpc>
            </a:pPr>
            <a:r>
              <a:rPr sz="3200" b="1">
                <a:solidFill>
                  <a:srgbClr val="212121"/>
                </a:solidFill>
                <a:latin typeface="BIZ UDGothic"/>
                <a:ea typeface="BIZ UDGothic"/>
              </a:rPr>
              <a:t>だから、手軽に続けられて成長が見えるアプリへ</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8458200" y="164592"/>
            <a:ext cx="2423160" cy="274320"/>
          </a:xfrm>
          <a:prstGeom prst="rect">
            <a:avLst/>
          </a:prstGeom>
          <a:noFill/>
        </p:spPr>
        <p:txBody>
          <a:bodyPr wrap="none" lIns="0" tIns="0" rIns="0" bIns="0" anchor="t">
            <a:spAutoFit/>
          </a:bodyPr>
          <a:lstStyle/>
          <a:p>
            <a:pPr algn="r">
              <a:lnSpc>
                <a:spcPct val="115000"/>
              </a:lnSpc>
            </a:pPr>
            <a:r>
              <a:rPr sz="1400" b="0">
                <a:solidFill>
                  <a:srgbClr val="5C5C5C"/>
                </a:solidFill>
                <a:latin typeface="BIZ UDGothic"/>
                <a:ea typeface="BIZ UDGothic"/>
              </a:rPr>
              <a:t>チーム：ねるねるねるね</a:t>
            </a:r>
          </a:p>
        </p:txBody>
      </p:sp>
      <p:sp>
        <p:nvSpPr>
          <p:cNvPr id="3" name="TextBox 2"/>
          <p:cNvSpPr txBox="1"/>
          <p:nvPr/>
        </p:nvSpPr>
        <p:spPr>
          <a:xfrm>
            <a:off x="411480" y="300000"/>
            <a:ext cx="9500000" cy="560000"/>
          </a:xfrm>
          <a:prstGeom prst="rect">
            <a:avLst/>
          </a:prstGeom>
          <a:noFill/>
        </p:spPr>
        <p:txBody>
          <a:bodyPr wrap="none" lIns="0" tIns="0" rIns="0" bIns="0" anchor="t">
            <a:spAutoFit/>
          </a:bodyPr>
          <a:lstStyle/>
          <a:p>
            <a:pPr algn="l">
              <a:lnSpc>
                <a:spcPct val="115000"/>
              </a:lnSpc>
            </a:pPr>
            <a:r>
              <a:rPr sz="4000" b="1">
                <a:solidFill>
                  <a:srgbClr val="212121"/>
                </a:solidFill>
                <a:latin typeface="BIZ UDGothic"/>
                <a:ea typeface="BIZ UDGothic"/>
              </a:rPr>
              <a:t>3. 目的</a:t>
            </a:r>
          </a:p>
        </p:txBody>
      </p:sp>
      <p:sp>
        <p:nvSpPr>
          <p:cNvPr id="4" name="Rectangle 3"/>
          <p:cNvSpPr/>
          <p:nvPr/>
        </p:nvSpPr>
        <p:spPr>
          <a:xfrm>
            <a:off x="411480" y="1080000"/>
            <a:ext cx="10789920" cy="22860"/>
          </a:xfrm>
          <a:prstGeom prst="rect">
            <a:avLst/>
          </a:prstGeom>
          <a:solidFill>
            <a:srgbClr val="E67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11201400" y="292608"/>
            <a:ext cx="384048" cy="384048"/>
          </a:xfrm>
          <a:prstGeom prst="ellipse">
            <a:avLst/>
          </a:prstGeom>
          <a:solidFill>
            <a:srgbClr val="E67000"/>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800" b="1">
                <a:solidFill>
                  <a:srgbClr val="FFFFFF"/>
                </a:solidFill>
                <a:latin typeface="BIZ UDGothic"/>
                <a:ea typeface="BIZ UDGothic"/>
              </a:rPr>
              <a:t>3</a:t>
            </a:r>
          </a:p>
        </p:txBody>
      </p:sp>
      <p:sp>
        <p:nvSpPr>
          <p:cNvPr id="6" name="Rectangle 5"/>
          <p:cNvSpPr/>
          <p:nvPr/>
        </p:nvSpPr>
        <p:spPr>
          <a:xfrm>
            <a:off x="0" y="6565392"/>
            <a:ext cx="12191695" cy="292608"/>
          </a:xfrm>
          <a:prstGeom prst="rect">
            <a:avLst/>
          </a:prstGeom>
          <a:solidFill>
            <a:srgbClr val="E67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251960" y="6601968"/>
            <a:ext cx="3657600" cy="201168"/>
          </a:xfrm>
          <a:prstGeom prst="rect">
            <a:avLst/>
          </a:prstGeom>
          <a:noFill/>
        </p:spPr>
        <p:txBody>
          <a:bodyPr wrap="none" lIns="0" tIns="0" rIns="0" bIns="0" anchor="t">
            <a:spAutoFit/>
          </a:bodyPr>
          <a:lstStyle/>
          <a:p>
            <a:pPr algn="ctr">
              <a:lnSpc>
                <a:spcPct val="115000"/>
              </a:lnSpc>
            </a:pPr>
            <a:r>
              <a:rPr sz="1200" b="1">
                <a:solidFill>
                  <a:srgbClr val="FFFFFF"/>
                </a:solidFill>
                <a:latin typeface="BIZ UDGothic"/>
                <a:ea typeface="BIZ UDGothic"/>
              </a:rPr>
              <a:t>AI詰将棋トレーナー　発表資料</a:t>
            </a:r>
          </a:p>
        </p:txBody>
      </p:sp>
      <p:sp>
        <p:nvSpPr>
          <p:cNvPr id="8" name="TextBox 7"/>
          <p:cNvSpPr txBox="1"/>
          <p:nvPr/>
        </p:nvSpPr>
        <p:spPr>
          <a:xfrm>
            <a:off x="1200000" y="1600000"/>
            <a:ext cx="9800000" cy="2600000"/>
          </a:xfrm>
          <a:prstGeom prst="rect">
            <a:avLst/>
          </a:prstGeom>
          <a:noFill/>
        </p:spPr>
        <p:txBody>
          <a:bodyPr wrap="square" lIns="0" tIns="0" rIns="0" bIns="0">
            <a:spAutoFit/>
          </a:bodyPr>
          <a:lstStyle/>
          <a:p>
            <a:pPr>
              <a:lnSpc>
                <a:spcPct val="120000"/>
              </a:lnSpc>
              <a:spcAft>
                <a:spcPts val="2600"/>
              </a:spcAft>
            </a:pPr>
            <a:r>
              <a:rPr sz="3200" b="0">
                <a:solidFill>
                  <a:srgbClr val="212121"/>
                </a:solidFill>
                <a:latin typeface="BIZ UDGothic"/>
                <a:ea typeface="BIZ UDGothic"/>
              </a:rPr>
              <a:t>・ 誰でも手軽に始められる詰将棋学習にする</a:t>
            </a:r>
          </a:p>
          <a:p>
            <a:pPr>
              <a:lnSpc>
                <a:spcPct val="120000"/>
              </a:lnSpc>
              <a:spcAft>
                <a:spcPts val="2600"/>
              </a:spcAft>
            </a:pPr>
            <a:r>
              <a:rPr sz="3200" b="0">
                <a:solidFill>
                  <a:srgbClr val="212121"/>
                </a:solidFill>
                <a:latin typeface="BIZ UDGothic"/>
                <a:ea typeface="BIZ UDGothic"/>
              </a:rPr>
              <a:t>・ 毎日続けられる仕組みで習慣化する</a:t>
            </a:r>
          </a:p>
          <a:p>
            <a:pPr>
              <a:lnSpc>
                <a:spcPct val="120000"/>
              </a:lnSpc>
              <a:spcAft>
                <a:spcPts val="2600"/>
              </a:spcAft>
            </a:pPr>
            <a:r>
              <a:rPr sz="3200" b="0">
                <a:solidFill>
                  <a:srgbClr val="212121"/>
                </a:solidFill>
                <a:latin typeface="BIZ UDGothic"/>
                <a:ea typeface="BIZ UDGothic"/>
              </a:rPr>
              <a:t>・ 成績・記録で成長を実感できるようにする</a:t>
            </a:r>
          </a:p>
        </p:txBody>
      </p:sp>
      <p:sp>
        <p:nvSpPr>
          <p:cNvPr id="9" name="TextBox 8"/>
          <p:cNvSpPr txBox="1"/>
          <p:nvPr/>
        </p:nvSpPr>
        <p:spPr>
          <a:xfrm>
            <a:off x="1200000" y="4700000"/>
            <a:ext cx="9800000" cy="700000"/>
          </a:xfrm>
          <a:prstGeom prst="rect">
            <a:avLst/>
          </a:prstGeom>
          <a:noFill/>
        </p:spPr>
        <p:txBody>
          <a:bodyPr wrap="none" lIns="0" tIns="0" rIns="0" bIns="0" anchor="t">
            <a:spAutoFit/>
          </a:bodyPr>
          <a:lstStyle/>
          <a:p>
            <a:pPr algn="l">
              <a:lnSpc>
                <a:spcPct val="115000"/>
              </a:lnSpc>
            </a:pPr>
            <a:r>
              <a:rPr sz="3200" b="1">
                <a:solidFill>
                  <a:srgbClr val="E67000"/>
                </a:solidFill>
                <a:latin typeface="BIZ UDGothic"/>
                <a:ea typeface="BIZ UDGothic"/>
              </a:rPr>
              <a:t>→ 詰将棋を「続けられる学び」に変える</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8458200" y="164592"/>
            <a:ext cx="2423160" cy="274320"/>
          </a:xfrm>
          <a:prstGeom prst="rect">
            <a:avLst/>
          </a:prstGeom>
          <a:noFill/>
        </p:spPr>
        <p:txBody>
          <a:bodyPr wrap="none" lIns="0" tIns="0" rIns="0" bIns="0" anchor="t">
            <a:spAutoFit/>
          </a:bodyPr>
          <a:lstStyle/>
          <a:p>
            <a:pPr algn="r">
              <a:lnSpc>
                <a:spcPct val="115000"/>
              </a:lnSpc>
            </a:pPr>
            <a:r>
              <a:rPr sz="1400" b="0">
                <a:solidFill>
                  <a:srgbClr val="5C5C5C"/>
                </a:solidFill>
                <a:latin typeface="BIZ UDGothic"/>
                <a:ea typeface="BIZ UDGothic"/>
              </a:rPr>
              <a:t>チーム：ねるねるねるね</a:t>
            </a:r>
          </a:p>
        </p:txBody>
      </p:sp>
      <p:sp>
        <p:nvSpPr>
          <p:cNvPr id="3" name="TextBox 2"/>
          <p:cNvSpPr txBox="1"/>
          <p:nvPr/>
        </p:nvSpPr>
        <p:spPr>
          <a:xfrm>
            <a:off x="411480" y="300000"/>
            <a:ext cx="9500000" cy="560000"/>
          </a:xfrm>
          <a:prstGeom prst="rect">
            <a:avLst/>
          </a:prstGeom>
          <a:noFill/>
        </p:spPr>
        <p:txBody>
          <a:bodyPr wrap="none" lIns="0" tIns="0" rIns="0" bIns="0" anchor="t">
            <a:spAutoFit/>
          </a:bodyPr>
          <a:lstStyle/>
          <a:p>
            <a:pPr algn="l">
              <a:lnSpc>
                <a:spcPct val="115000"/>
              </a:lnSpc>
            </a:pPr>
            <a:r>
              <a:rPr sz="4000" b="1">
                <a:solidFill>
                  <a:srgbClr val="212121"/>
                </a:solidFill>
                <a:latin typeface="BIZ UDGothic"/>
                <a:ea typeface="BIZ UDGothic"/>
              </a:rPr>
              <a:t>4. 開発内容</a:t>
            </a:r>
          </a:p>
        </p:txBody>
      </p:sp>
      <p:sp>
        <p:nvSpPr>
          <p:cNvPr id="4" name="Rectangle 3"/>
          <p:cNvSpPr/>
          <p:nvPr/>
        </p:nvSpPr>
        <p:spPr>
          <a:xfrm>
            <a:off x="411480" y="1080000"/>
            <a:ext cx="10789920" cy="22860"/>
          </a:xfrm>
          <a:prstGeom prst="rect">
            <a:avLst/>
          </a:prstGeom>
          <a:solidFill>
            <a:srgbClr val="E67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11201400" y="292608"/>
            <a:ext cx="384048" cy="384048"/>
          </a:xfrm>
          <a:prstGeom prst="ellipse">
            <a:avLst/>
          </a:prstGeom>
          <a:solidFill>
            <a:srgbClr val="E67000"/>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800" b="1">
                <a:solidFill>
                  <a:srgbClr val="FFFFFF"/>
                </a:solidFill>
                <a:latin typeface="BIZ UDGothic"/>
                <a:ea typeface="BIZ UDGothic"/>
              </a:rPr>
              <a:t>4</a:t>
            </a:r>
          </a:p>
        </p:txBody>
      </p:sp>
      <p:sp>
        <p:nvSpPr>
          <p:cNvPr id="6" name="Rectangle 5"/>
          <p:cNvSpPr/>
          <p:nvPr/>
        </p:nvSpPr>
        <p:spPr>
          <a:xfrm>
            <a:off x="0" y="6565392"/>
            <a:ext cx="12191695" cy="292608"/>
          </a:xfrm>
          <a:prstGeom prst="rect">
            <a:avLst/>
          </a:prstGeom>
          <a:solidFill>
            <a:srgbClr val="E67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251960" y="6601968"/>
            <a:ext cx="3657600" cy="201168"/>
          </a:xfrm>
          <a:prstGeom prst="rect">
            <a:avLst/>
          </a:prstGeom>
          <a:noFill/>
        </p:spPr>
        <p:txBody>
          <a:bodyPr wrap="none" lIns="0" tIns="0" rIns="0" bIns="0" anchor="t">
            <a:spAutoFit/>
          </a:bodyPr>
          <a:lstStyle/>
          <a:p>
            <a:pPr algn="ctr">
              <a:lnSpc>
                <a:spcPct val="115000"/>
              </a:lnSpc>
            </a:pPr>
            <a:r>
              <a:rPr sz="1200" b="1">
                <a:solidFill>
                  <a:srgbClr val="FFFFFF"/>
                </a:solidFill>
                <a:latin typeface="BIZ UDGothic"/>
                <a:ea typeface="BIZ UDGothic"/>
              </a:rPr>
              <a:t>AI詰将棋トレーナー　発表資料</a:t>
            </a:r>
          </a:p>
        </p:txBody>
      </p:sp>
      <p:sp>
        <p:nvSpPr>
          <p:cNvPr id="8" name="TextBox 7"/>
          <p:cNvSpPr txBox="1"/>
          <p:nvPr/>
        </p:nvSpPr>
        <p:spPr>
          <a:xfrm>
            <a:off x="900000" y="1500000"/>
            <a:ext cx="10400000" cy="4500000"/>
          </a:xfrm>
          <a:prstGeom prst="rect">
            <a:avLst/>
          </a:prstGeom>
          <a:noFill/>
        </p:spPr>
        <p:txBody>
          <a:bodyPr wrap="square" lIns="0" tIns="0" rIns="0" bIns="0">
            <a:spAutoFit/>
          </a:bodyPr>
          <a:lstStyle/>
          <a:p>
            <a:pPr>
              <a:lnSpc>
                <a:spcPct val="120000"/>
              </a:lnSpc>
              <a:spcAft>
                <a:spcPts val="2200"/>
              </a:spcAft>
            </a:pPr>
            <a:r>
              <a:rPr sz="3200" b="0">
                <a:solidFill>
                  <a:srgbClr val="212121"/>
                </a:solidFill>
                <a:latin typeface="BIZ UDGothic"/>
                <a:ea typeface="BIZ UDGothic"/>
              </a:rPr>
              <a:t>・ 詰将棋ルールエンジンを自作</a:t>
            </a:r>
          </a:p>
          <a:p>
            <a:pPr>
              <a:lnSpc>
                <a:spcPct val="120000"/>
              </a:lnSpc>
              <a:spcAft>
                <a:spcPts val="2200"/>
              </a:spcAft>
            </a:pPr>
            <a:r>
              <a:rPr sz="3200" b="0">
                <a:solidFill>
                  <a:srgbClr val="212121"/>
                </a:solidFill>
                <a:latin typeface="BIZ UDGothic"/>
                <a:ea typeface="BIZ UDGothic"/>
              </a:rPr>
              <a:t>・ 1〜5手詰の自動生成</a:t>
            </a:r>
          </a:p>
          <a:p>
            <a:pPr>
              <a:lnSpc>
                <a:spcPct val="120000"/>
              </a:lnSpc>
              <a:spcAft>
                <a:spcPts val="2200"/>
              </a:spcAft>
            </a:pPr>
            <a:r>
              <a:rPr sz="3200" b="0">
                <a:solidFill>
                  <a:srgbClr val="212121"/>
                </a:solidFill>
                <a:latin typeface="BIZ UDGothic"/>
                <a:ea typeface="BIZ UDGothic"/>
              </a:rPr>
              <a:t>・ 4段階のヒント機能</a:t>
            </a:r>
          </a:p>
          <a:p>
            <a:pPr>
              <a:lnSpc>
                <a:spcPct val="120000"/>
              </a:lnSpc>
              <a:spcAft>
                <a:spcPts val="2200"/>
              </a:spcAft>
            </a:pPr>
            <a:r>
              <a:rPr sz="3200" b="0">
                <a:solidFill>
                  <a:srgbClr val="212121"/>
                </a:solidFill>
                <a:latin typeface="BIZ UDGothic"/>
                <a:ea typeface="BIZ UDGothic"/>
              </a:rPr>
              <a:t>・ デイリーチャレンジ・問題集（レベル別）</a:t>
            </a:r>
          </a:p>
          <a:p>
            <a:pPr>
              <a:lnSpc>
                <a:spcPct val="120000"/>
              </a:lnSpc>
              <a:spcAft>
                <a:spcPts val="2200"/>
              </a:spcAft>
            </a:pPr>
            <a:r>
              <a:rPr sz="3200" b="0">
                <a:solidFill>
                  <a:srgbClr val="212121"/>
                </a:solidFill>
                <a:latin typeface="BIZ UDGothic"/>
                <a:ea typeface="BIZ UDGothic"/>
              </a:rPr>
              <a:t>・ 解答記録・ランキング・マイページ</a:t>
            </a:r>
          </a:p>
          <a:p>
            <a:pPr>
              <a:lnSpc>
                <a:spcPct val="120000"/>
              </a:lnSpc>
              <a:spcAft>
                <a:spcPts val="2200"/>
              </a:spcAft>
            </a:pPr>
            <a:r>
              <a:rPr sz="3200" b="0">
                <a:solidFill>
                  <a:srgbClr val="212121"/>
                </a:solidFill>
                <a:latin typeface="BIZ UDGothic"/>
                <a:ea typeface="BIZ UDGothic"/>
              </a:rPr>
              <a:t>・ ユーザー名によるログイン機能</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8458200" y="164592"/>
            <a:ext cx="2423160" cy="274320"/>
          </a:xfrm>
          <a:prstGeom prst="rect">
            <a:avLst/>
          </a:prstGeom>
          <a:noFill/>
        </p:spPr>
        <p:txBody>
          <a:bodyPr wrap="none" lIns="0" tIns="0" rIns="0" bIns="0" anchor="t">
            <a:spAutoFit/>
          </a:bodyPr>
          <a:lstStyle/>
          <a:p>
            <a:pPr algn="r">
              <a:lnSpc>
                <a:spcPct val="115000"/>
              </a:lnSpc>
            </a:pPr>
            <a:r>
              <a:rPr sz="1400" b="0">
                <a:solidFill>
                  <a:srgbClr val="5C5C5C"/>
                </a:solidFill>
                <a:latin typeface="BIZ UDGothic"/>
                <a:ea typeface="BIZ UDGothic"/>
              </a:rPr>
              <a:t>チーム：ねるねるねるね</a:t>
            </a:r>
          </a:p>
        </p:txBody>
      </p:sp>
      <p:sp>
        <p:nvSpPr>
          <p:cNvPr id="3" name="TextBox 2"/>
          <p:cNvSpPr txBox="1"/>
          <p:nvPr/>
        </p:nvSpPr>
        <p:spPr>
          <a:xfrm>
            <a:off x="411480" y="300000"/>
            <a:ext cx="9500000" cy="560000"/>
          </a:xfrm>
          <a:prstGeom prst="rect">
            <a:avLst/>
          </a:prstGeom>
          <a:noFill/>
        </p:spPr>
        <p:txBody>
          <a:bodyPr wrap="none" lIns="0" tIns="0" rIns="0" bIns="0" anchor="t">
            <a:spAutoFit/>
          </a:bodyPr>
          <a:lstStyle/>
          <a:p>
            <a:pPr algn="l">
              <a:lnSpc>
                <a:spcPct val="115000"/>
              </a:lnSpc>
            </a:pPr>
            <a:r>
              <a:rPr sz="4000" b="1">
                <a:solidFill>
                  <a:srgbClr val="212121"/>
                </a:solidFill>
                <a:latin typeface="BIZ UDGothic"/>
                <a:ea typeface="BIZ UDGothic"/>
              </a:rPr>
              <a:t>5. 使用技術</a:t>
            </a:r>
          </a:p>
        </p:txBody>
      </p:sp>
      <p:sp>
        <p:nvSpPr>
          <p:cNvPr id="4" name="Rectangle 3"/>
          <p:cNvSpPr/>
          <p:nvPr/>
        </p:nvSpPr>
        <p:spPr>
          <a:xfrm>
            <a:off x="411480" y="1080000"/>
            <a:ext cx="10789920" cy="22860"/>
          </a:xfrm>
          <a:prstGeom prst="rect">
            <a:avLst/>
          </a:prstGeom>
          <a:solidFill>
            <a:srgbClr val="E67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11201400" y="292608"/>
            <a:ext cx="384048" cy="384048"/>
          </a:xfrm>
          <a:prstGeom prst="ellipse">
            <a:avLst/>
          </a:prstGeom>
          <a:solidFill>
            <a:srgbClr val="E67000"/>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800" b="1">
                <a:solidFill>
                  <a:srgbClr val="FFFFFF"/>
                </a:solidFill>
                <a:latin typeface="BIZ UDGothic"/>
                <a:ea typeface="BIZ UDGothic"/>
              </a:rPr>
              <a:t>5</a:t>
            </a:r>
          </a:p>
        </p:txBody>
      </p:sp>
      <p:sp>
        <p:nvSpPr>
          <p:cNvPr id="6" name="Rectangle 5"/>
          <p:cNvSpPr/>
          <p:nvPr/>
        </p:nvSpPr>
        <p:spPr>
          <a:xfrm>
            <a:off x="0" y="6565392"/>
            <a:ext cx="12191695" cy="292608"/>
          </a:xfrm>
          <a:prstGeom prst="rect">
            <a:avLst/>
          </a:prstGeom>
          <a:solidFill>
            <a:srgbClr val="E67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251960" y="6601968"/>
            <a:ext cx="3657600" cy="201168"/>
          </a:xfrm>
          <a:prstGeom prst="rect">
            <a:avLst/>
          </a:prstGeom>
          <a:noFill/>
        </p:spPr>
        <p:txBody>
          <a:bodyPr wrap="none" lIns="0" tIns="0" rIns="0" bIns="0" anchor="t">
            <a:spAutoFit/>
          </a:bodyPr>
          <a:lstStyle/>
          <a:p>
            <a:pPr algn="ctr">
              <a:lnSpc>
                <a:spcPct val="115000"/>
              </a:lnSpc>
            </a:pPr>
            <a:r>
              <a:rPr sz="1200" b="1">
                <a:solidFill>
                  <a:srgbClr val="FFFFFF"/>
                </a:solidFill>
                <a:latin typeface="BIZ UDGothic"/>
                <a:ea typeface="BIZ UDGothic"/>
              </a:rPr>
              <a:t>AI詰将棋トレーナー　発表資料</a:t>
            </a:r>
          </a:p>
        </p:txBody>
      </p:sp>
      <p:sp>
        <p:nvSpPr>
          <p:cNvPr id="8" name="Rounded Rectangle 7"/>
          <p:cNvSpPr/>
          <p:nvPr/>
        </p:nvSpPr>
        <p:spPr>
          <a:xfrm>
            <a:off x="1171000" y="1650000"/>
            <a:ext cx="1450000" cy="1450000"/>
          </a:xfrm>
          <a:prstGeom prst="roundRect">
            <a:avLst>
              <a:gd name="adj" fmla="val 12000"/>
            </a:avLst>
          </a:prstGeom>
          <a:solidFill>
            <a:srgbClr val="FFFFFF"/>
          </a:solidFill>
          <a:ln w="19050">
            <a:solidFill>
              <a:srgbClr val="F0AA5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9" name="Picture 8" descr="nextdotjs.png"/>
          <p:cNvPicPr>
            <a:picLocks noChangeAspect="1"/>
          </p:cNvPicPr>
          <p:nvPr/>
        </p:nvPicPr>
        <p:blipFill>
          <a:blip r:embed="rId3"/>
          <a:stretch>
            <a:fillRect/>
          </a:stretch>
        </p:blipFill>
        <p:spPr>
          <a:xfrm>
            <a:off x="1401000" y="1880000"/>
            <a:ext cx="990000" cy="990000"/>
          </a:xfrm>
          <a:prstGeom prst="rect">
            <a:avLst/>
          </a:prstGeom>
        </p:spPr>
      </p:pic>
      <p:sp>
        <p:nvSpPr>
          <p:cNvPr id="10" name="TextBox 9"/>
          <p:cNvSpPr txBox="1"/>
          <p:nvPr/>
        </p:nvSpPr>
        <p:spPr>
          <a:xfrm>
            <a:off x="886000" y="3230000"/>
            <a:ext cx="2020000" cy="340000"/>
          </a:xfrm>
          <a:prstGeom prst="rect">
            <a:avLst/>
          </a:prstGeom>
          <a:noFill/>
        </p:spPr>
        <p:txBody>
          <a:bodyPr wrap="square" lIns="0" tIns="0" rIns="0" bIns="0" anchor="t">
            <a:spAutoFit/>
          </a:bodyPr>
          <a:lstStyle/>
          <a:p>
            <a:pPr algn="ctr">
              <a:lnSpc>
                <a:spcPct val="115000"/>
              </a:lnSpc>
            </a:pPr>
            <a:r>
              <a:rPr sz="2200" b="1">
                <a:solidFill>
                  <a:srgbClr val="212121"/>
                </a:solidFill>
                <a:latin typeface="BIZ UDGothic"/>
                <a:ea typeface="BIZ UDGothic"/>
              </a:rPr>
              <a:t>Next.js</a:t>
            </a:r>
          </a:p>
        </p:txBody>
      </p:sp>
      <p:sp>
        <p:nvSpPr>
          <p:cNvPr id="11" name="TextBox 10"/>
          <p:cNvSpPr txBox="1"/>
          <p:nvPr/>
        </p:nvSpPr>
        <p:spPr>
          <a:xfrm>
            <a:off x="886000" y="3630000"/>
            <a:ext cx="2020000" cy="650000"/>
          </a:xfrm>
          <a:prstGeom prst="rect">
            <a:avLst/>
          </a:prstGeom>
          <a:noFill/>
        </p:spPr>
        <p:txBody>
          <a:bodyPr wrap="square" lIns="0" tIns="0" rIns="0" bIns="0" anchor="t">
            <a:spAutoFit/>
          </a:bodyPr>
          <a:lstStyle/>
          <a:p>
            <a:pPr algn="ctr">
              <a:lnSpc>
                <a:spcPct val="115000"/>
              </a:lnSpc>
            </a:pPr>
            <a:r>
              <a:rPr sz="1800" b="0">
                <a:solidFill>
                  <a:srgbClr val="5C5C5C"/>
                </a:solidFill>
                <a:latin typeface="BIZ UDGothic"/>
                <a:ea typeface="BIZ UDGothic"/>
              </a:rPr>
              <a:t>フロントエンド</a:t>
            </a:r>
          </a:p>
          <a:p>
            <a:pPr algn="ctr">
              <a:lnSpc>
                <a:spcPct val="115000"/>
              </a:lnSpc>
            </a:pPr>
            <a:r>
              <a:rPr sz="1800" b="0">
                <a:solidFill>
                  <a:srgbClr val="5C5C5C"/>
                </a:solidFill>
                <a:latin typeface="BIZ UDGothic"/>
                <a:ea typeface="BIZ UDGothic"/>
              </a:rPr>
              <a:t>(App Router)</a:t>
            </a:r>
          </a:p>
        </p:txBody>
      </p:sp>
      <p:sp>
        <p:nvSpPr>
          <p:cNvPr id="12" name="Rounded Rectangle 11"/>
          <p:cNvSpPr/>
          <p:nvPr/>
        </p:nvSpPr>
        <p:spPr>
          <a:xfrm>
            <a:off x="3271000" y="1650000"/>
            <a:ext cx="1450000" cy="1450000"/>
          </a:xfrm>
          <a:prstGeom prst="roundRect">
            <a:avLst>
              <a:gd name="adj" fmla="val 12000"/>
            </a:avLst>
          </a:prstGeom>
          <a:solidFill>
            <a:srgbClr val="FFFFFF"/>
          </a:solidFill>
          <a:ln w="19050">
            <a:solidFill>
              <a:srgbClr val="F0AA5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3" name="Picture 12" descr="typescript.png"/>
          <p:cNvPicPr>
            <a:picLocks noChangeAspect="1"/>
          </p:cNvPicPr>
          <p:nvPr/>
        </p:nvPicPr>
        <p:blipFill>
          <a:blip r:embed="rId4"/>
          <a:stretch>
            <a:fillRect/>
          </a:stretch>
        </p:blipFill>
        <p:spPr>
          <a:xfrm>
            <a:off x="3501000" y="1880000"/>
            <a:ext cx="990000" cy="990000"/>
          </a:xfrm>
          <a:prstGeom prst="rect">
            <a:avLst/>
          </a:prstGeom>
        </p:spPr>
      </p:pic>
      <p:sp>
        <p:nvSpPr>
          <p:cNvPr id="14" name="TextBox 13"/>
          <p:cNvSpPr txBox="1"/>
          <p:nvPr/>
        </p:nvSpPr>
        <p:spPr>
          <a:xfrm>
            <a:off x="2986000" y="3230000"/>
            <a:ext cx="2020000" cy="340000"/>
          </a:xfrm>
          <a:prstGeom prst="rect">
            <a:avLst/>
          </a:prstGeom>
          <a:noFill/>
        </p:spPr>
        <p:txBody>
          <a:bodyPr wrap="square" lIns="0" tIns="0" rIns="0" bIns="0" anchor="t">
            <a:spAutoFit/>
          </a:bodyPr>
          <a:lstStyle/>
          <a:p>
            <a:pPr algn="ctr">
              <a:lnSpc>
                <a:spcPct val="115000"/>
              </a:lnSpc>
            </a:pPr>
            <a:r>
              <a:rPr sz="2200" b="1">
                <a:solidFill>
                  <a:srgbClr val="212121"/>
                </a:solidFill>
                <a:latin typeface="BIZ UDGothic"/>
                <a:ea typeface="BIZ UDGothic"/>
              </a:rPr>
              <a:t>TypeScript</a:t>
            </a:r>
          </a:p>
        </p:txBody>
      </p:sp>
      <p:sp>
        <p:nvSpPr>
          <p:cNvPr id="15" name="TextBox 14"/>
          <p:cNvSpPr txBox="1"/>
          <p:nvPr/>
        </p:nvSpPr>
        <p:spPr>
          <a:xfrm>
            <a:off x="2986000" y="3630000"/>
            <a:ext cx="2020000" cy="650000"/>
          </a:xfrm>
          <a:prstGeom prst="rect">
            <a:avLst/>
          </a:prstGeom>
          <a:noFill/>
        </p:spPr>
        <p:txBody>
          <a:bodyPr wrap="square" lIns="0" tIns="0" rIns="0" bIns="0" anchor="t">
            <a:spAutoFit/>
          </a:bodyPr>
          <a:lstStyle/>
          <a:p>
            <a:pPr algn="ctr">
              <a:lnSpc>
                <a:spcPct val="115000"/>
              </a:lnSpc>
            </a:pPr>
            <a:r>
              <a:rPr sz="1800" b="0">
                <a:solidFill>
                  <a:srgbClr val="5C5C5C"/>
                </a:solidFill>
                <a:latin typeface="BIZ UDGothic"/>
                <a:ea typeface="BIZ UDGothic"/>
              </a:rPr>
              <a:t>型安全な実装</a:t>
            </a:r>
          </a:p>
        </p:txBody>
      </p:sp>
      <p:sp>
        <p:nvSpPr>
          <p:cNvPr id="16" name="Rounded Rectangle 15"/>
          <p:cNvSpPr/>
          <p:nvPr/>
        </p:nvSpPr>
        <p:spPr>
          <a:xfrm>
            <a:off x="5371000" y="1650000"/>
            <a:ext cx="1450000" cy="1450000"/>
          </a:xfrm>
          <a:prstGeom prst="roundRect">
            <a:avLst>
              <a:gd name="adj" fmla="val 12000"/>
            </a:avLst>
          </a:prstGeom>
          <a:solidFill>
            <a:srgbClr val="FFFFFF"/>
          </a:solidFill>
          <a:ln w="19050">
            <a:solidFill>
              <a:srgbClr val="F0AA5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7" name="Picture 16" descr="tailwindcss.png"/>
          <p:cNvPicPr>
            <a:picLocks noChangeAspect="1"/>
          </p:cNvPicPr>
          <p:nvPr/>
        </p:nvPicPr>
        <p:blipFill>
          <a:blip r:embed="rId5"/>
          <a:stretch>
            <a:fillRect/>
          </a:stretch>
        </p:blipFill>
        <p:spPr>
          <a:xfrm>
            <a:off x="5601000" y="1880000"/>
            <a:ext cx="990000" cy="990000"/>
          </a:xfrm>
          <a:prstGeom prst="rect">
            <a:avLst/>
          </a:prstGeom>
        </p:spPr>
      </p:pic>
      <p:sp>
        <p:nvSpPr>
          <p:cNvPr id="18" name="TextBox 17"/>
          <p:cNvSpPr txBox="1"/>
          <p:nvPr/>
        </p:nvSpPr>
        <p:spPr>
          <a:xfrm>
            <a:off x="5086000" y="3230000"/>
            <a:ext cx="2020000" cy="340000"/>
          </a:xfrm>
          <a:prstGeom prst="rect">
            <a:avLst/>
          </a:prstGeom>
          <a:noFill/>
        </p:spPr>
        <p:txBody>
          <a:bodyPr wrap="square" lIns="0" tIns="0" rIns="0" bIns="0" anchor="t">
            <a:spAutoFit/>
          </a:bodyPr>
          <a:lstStyle/>
          <a:p>
            <a:pPr algn="ctr">
              <a:lnSpc>
                <a:spcPct val="115000"/>
              </a:lnSpc>
            </a:pPr>
            <a:r>
              <a:rPr sz="2200" b="1">
                <a:solidFill>
                  <a:srgbClr val="212121"/>
                </a:solidFill>
                <a:latin typeface="BIZ UDGothic"/>
                <a:ea typeface="BIZ UDGothic"/>
              </a:rPr>
              <a:t>Tailwind CSS</a:t>
            </a:r>
          </a:p>
        </p:txBody>
      </p:sp>
      <p:sp>
        <p:nvSpPr>
          <p:cNvPr id="19" name="TextBox 18"/>
          <p:cNvSpPr txBox="1"/>
          <p:nvPr/>
        </p:nvSpPr>
        <p:spPr>
          <a:xfrm>
            <a:off x="5086000" y="3630000"/>
            <a:ext cx="2020000" cy="650000"/>
          </a:xfrm>
          <a:prstGeom prst="rect">
            <a:avLst/>
          </a:prstGeom>
          <a:noFill/>
        </p:spPr>
        <p:txBody>
          <a:bodyPr wrap="square" lIns="0" tIns="0" rIns="0" bIns="0" anchor="t">
            <a:spAutoFit/>
          </a:bodyPr>
          <a:lstStyle/>
          <a:p>
            <a:pPr algn="ctr">
              <a:lnSpc>
                <a:spcPct val="115000"/>
              </a:lnSpc>
            </a:pPr>
            <a:r>
              <a:rPr sz="1800" b="0">
                <a:solidFill>
                  <a:srgbClr val="5C5C5C"/>
                </a:solidFill>
                <a:latin typeface="BIZ UDGothic"/>
                <a:ea typeface="BIZ UDGothic"/>
              </a:rPr>
              <a:t>スタイリング</a:t>
            </a:r>
          </a:p>
        </p:txBody>
      </p:sp>
      <p:sp>
        <p:nvSpPr>
          <p:cNvPr id="20" name="Rounded Rectangle 19"/>
          <p:cNvSpPr/>
          <p:nvPr/>
        </p:nvSpPr>
        <p:spPr>
          <a:xfrm>
            <a:off x="7471000" y="1650000"/>
            <a:ext cx="1450000" cy="1450000"/>
          </a:xfrm>
          <a:prstGeom prst="roundRect">
            <a:avLst>
              <a:gd name="adj" fmla="val 12000"/>
            </a:avLst>
          </a:prstGeom>
          <a:solidFill>
            <a:srgbClr val="FFFFFF"/>
          </a:solidFill>
          <a:ln w="19050">
            <a:solidFill>
              <a:srgbClr val="F0AA5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1" name="Picture 20" descr="supabase.png"/>
          <p:cNvPicPr>
            <a:picLocks noChangeAspect="1"/>
          </p:cNvPicPr>
          <p:nvPr/>
        </p:nvPicPr>
        <p:blipFill>
          <a:blip r:embed="rId6"/>
          <a:stretch>
            <a:fillRect/>
          </a:stretch>
        </p:blipFill>
        <p:spPr>
          <a:xfrm>
            <a:off x="7701000" y="1880000"/>
            <a:ext cx="990000" cy="990000"/>
          </a:xfrm>
          <a:prstGeom prst="rect">
            <a:avLst/>
          </a:prstGeom>
        </p:spPr>
      </p:pic>
      <p:sp>
        <p:nvSpPr>
          <p:cNvPr id="22" name="TextBox 21"/>
          <p:cNvSpPr txBox="1"/>
          <p:nvPr/>
        </p:nvSpPr>
        <p:spPr>
          <a:xfrm>
            <a:off x="7186000" y="3230000"/>
            <a:ext cx="2020000" cy="340000"/>
          </a:xfrm>
          <a:prstGeom prst="rect">
            <a:avLst/>
          </a:prstGeom>
          <a:noFill/>
        </p:spPr>
        <p:txBody>
          <a:bodyPr wrap="square" lIns="0" tIns="0" rIns="0" bIns="0" anchor="t">
            <a:spAutoFit/>
          </a:bodyPr>
          <a:lstStyle/>
          <a:p>
            <a:pPr algn="ctr">
              <a:lnSpc>
                <a:spcPct val="115000"/>
              </a:lnSpc>
            </a:pPr>
            <a:r>
              <a:rPr sz="2200" b="1">
                <a:solidFill>
                  <a:srgbClr val="212121"/>
                </a:solidFill>
                <a:latin typeface="BIZ UDGothic"/>
                <a:ea typeface="BIZ UDGothic"/>
              </a:rPr>
              <a:t>Supabase</a:t>
            </a:r>
          </a:p>
        </p:txBody>
      </p:sp>
      <p:sp>
        <p:nvSpPr>
          <p:cNvPr id="23" name="TextBox 22"/>
          <p:cNvSpPr txBox="1"/>
          <p:nvPr/>
        </p:nvSpPr>
        <p:spPr>
          <a:xfrm>
            <a:off x="7186000" y="3630000"/>
            <a:ext cx="2020000" cy="650000"/>
          </a:xfrm>
          <a:prstGeom prst="rect">
            <a:avLst/>
          </a:prstGeom>
          <a:noFill/>
        </p:spPr>
        <p:txBody>
          <a:bodyPr wrap="square" lIns="0" tIns="0" rIns="0" bIns="0" anchor="t">
            <a:spAutoFit/>
          </a:bodyPr>
          <a:lstStyle/>
          <a:p>
            <a:pPr algn="ctr">
              <a:lnSpc>
                <a:spcPct val="115000"/>
              </a:lnSpc>
            </a:pPr>
            <a:r>
              <a:rPr sz="1800" b="0">
                <a:solidFill>
                  <a:srgbClr val="5C5C5C"/>
                </a:solidFill>
                <a:latin typeface="BIZ UDGothic"/>
                <a:ea typeface="BIZ UDGothic"/>
              </a:rPr>
              <a:t>PostgreSQL / Auth</a:t>
            </a:r>
          </a:p>
        </p:txBody>
      </p:sp>
      <p:sp>
        <p:nvSpPr>
          <p:cNvPr id="24" name="Rounded Rectangle 23"/>
          <p:cNvSpPr/>
          <p:nvPr/>
        </p:nvSpPr>
        <p:spPr>
          <a:xfrm>
            <a:off x="9571000" y="1650000"/>
            <a:ext cx="1450000" cy="1450000"/>
          </a:xfrm>
          <a:prstGeom prst="roundRect">
            <a:avLst>
              <a:gd name="adj" fmla="val 12000"/>
            </a:avLst>
          </a:prstGeom>
          <a:solidFill>
            <a:srgbClr val="FFFFFF"/>
          </a:solidFill>
          <a:ln w="19050">
            <a:solidFill>
              <a:srgbClr val="F0AA5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5" name="Picture 24" descr="netlify.png"/>
          <p:cNvPicPr>
            <a:picLocks noChangeAspect="1"/>
          </p:cNvPicPr>
          <p:nvPr/>
        </p:nvPicPr>
        <p:blipFill>
          <a:blip r:embed="rId7"/>
          <a:stretch>
            <a:fillRect/>
          </a:stretch>
        </p:blipFill>
        <p:spPr>
          <a:xfrm>
            <a:off x="9801000" y="1880000"/>
            <a:ext cx="990000" cy="990000"/>
          </a:xfrm>
          <a:prstGeom prst="rect">
            <a:avLst/>
          </a:prstGeom>
        </p:spPr>
      </p:pic>
      <p:sp>
        <p:nvSpPr>
          <p:cNvPr id="26" name="TextBox 25"/>
          <p:cNvSpPr txBox="1"/>
          <p:nvPr/>
        </p:nvSpPr>
        <p:spPr>
          <a:xfrm>
            <a:off x="9286000" y="3230000"/>
            <a:ext cx="2020000" cy="340000"/>
          </a:xfrm>
          <a:prstGeom prst="rect">
            <a:avLst/>
          </a:prstGeom>
          <a:noFill/>
        </p:spPr>
        <p:txBody>
          <a:bodyPr wrap="square" lIns="0" tIns="0" rIns="0" bIns="0" anchor="t">
            <a:spAutoFit/>
          </a:bodyPr>
          <a:lstStyle/>
          <a:p>
            <a:pPr algn="ctr">
              <a:lnSpc>
                <a:spcPct val="115000"/>
              </a:lnSpc>
            </a:pPr>
            <a:r>
              <a:rPr sz="2200" b="1">
                <a:solidFill>
                  <a:srgbClr val="212121"/>
                </a:solidFill>
                <a:latin typeface="BIZ UDGothic"/>
                <a:ea typeface="BIZ UDGothic"/>
              </a:rPr>
              <a:t>Netlify</a:t>
            </a:r>
          </a:p>
        </p:txBody>
      </p:sp>
      <p:sp>
        <p:nvSpPr>
          <p:cNvPr id="27" name="TextBox 26"/>
          <p:cNvSpPr txBox="1"/>
          <p:nvPr/>
        </p:nvSpPr>
        <p:spPr>
          <a:xfrm>
            <a:off x="9286000" y="3630000"/>
            <a:ext cx="2020000" cy="650000"/>
          </a:xfrm>
          <a:prstGeom prst="rect">
            <a:avLst/>
          </a:prstGeom>
          <a:noFill/>
        </p:spPr>
        <p:txBody>
          <a:bodyPr wrap="square" lIns="0" tIns="0" rIns="0" bIns="0" anchor="t">
            <a:spAutoFit/>
          </a:bodyPr>
          <a:lstStyle/>
          <a:p>
            <a:pPr algn="ctr">
              <a:lnSpc>
                <a:spcPct val="115000"/>
              </a:lnSpc>
            </a:pPr>
            <a:r>
              <a:rPr sz="1800" b="0">
                <a:solidFill>
                  <a:srgbClr val="5C5C5C"/>
                </a:solidFill>
                <a:latin typeface="BIZ UDGothic"/>
                <a:ea typeface="BIZ UDGothic"/>
              </a:rPr>
              <a:t>ホスティング</a:t>
            </a:r>
          </a:p>
        </p:txBody>
      </p:sp>
      <p:sp>
        <p:nvSpPr>
          <p:cNvPr id="28" name="TextBox 27"/>
          <p:cNvSpPr txBox="1"/>
          <p:nvPr/>
        </p:nvSpPr>
        <p:spPr>
          <a:xfrm>
            <a:off x="900000" y="4700000"/>
            <a:ext cx="10400000" cy="600000"/>
          </a:xfrm>
          <a:prstGeom prst="rect">
            <a:avLst/>
          </a:prstGeom>
          <a:noFill/>
        </p:spPr>
        <p:txBody>
          <a:bodyPr wrap="none" lIns="0" tIns="0" rIns="0" bIns="0" anchor="t">
            <a:spAutoFit/>
          </a:bodyPr>
          <a:lstStyle/>
          <a:p>
            <a:pPr algn="ctr">
              <a:lnSpc>
                <a:spcPct val="115000"/>
              </a:lnSpc>
            </a:pPr>
            <a:r>
              <a:rPr sz="2600" b="1">
                <a:solidFill>
                  <a:srgbClr val="212121"/>
                </a:solidFill>
                <a:latin typeface="BIZ UDGothic"/>
                <a:ea typeface="BIZ UDGothic"/>
              </a:rPr>
              <a:t>将棋ロジックはAIを使わず、自前実装のルールエンジンで動作</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8458200" y="164592"/>
            <a:ext cx="2423160" cy="274320"/>
          </a:xfrm>
          <a:prstGeom prst="rect">
            <a:avLst/>
          </a:prstGeom>
          <a:noFill/>
        </p:spPr>
        <p:txBody>
          <a:bodyPr wrap="none" lIns="0" tIns="0" rIns="0" bIns="0" anchor="t">
            <a:spAutoFit/>
          </a:bodyPr>
          <a:lstStyle/>
          <a:p>
            <a:pPr algn="r">
              <a:lnSpc>
                <a:spcPct val="115000"/>
              </a:lnSpc>
            </a:pPr>
            <a:r>
              <a:rPr sz="1400" b="0">
                <a:solidFill>
                  <a:srgbClr val="5C5C5C"/>
                </a:solidFill>
                <a:latin typeface="BIZ UDGothic"/>
                <a:ea typeface="BIZ UDGothic"/>
              </a:rPr>
              <a:t>チーム：ねるねるねるね</a:t>
            </a:r>
          </a:p>
        </p:txBody>
      </p:sp>
      <p:sp>
        <p:nvSpPr>
          <p:cNvPr id="3" name="TextBox 2"/>
          <p:cNvSpPr txBox="1"/>
          <p:nvPr/>
        </p:nvSpPr>
        <p:spPr>
          <a:xfrm>
            <a:off x="411480" y="300000"/>
            <a:ext cx="9500000" cy="560000"/>
          </a:xfrm>
          <a:prstGeom prst="rect">
            <a:avLst/>
          </a:prstGeom>
          <a:noFill/>
        </p:spPr>
        <p:txBody>
          <a:bodyPr wrap="none" lIns="0" tIns="0" rIns="0" bIns="0" anchor="t">
            <a:spAutoFit/>
          </a:bodyPr>
          <a:lstStyle/>
          <a:p>
            <a:pPr algn="l">
              <a:lnSpc>
                <a:spcPct val="115000"/>
              </a:lnSpc>
            </a:pPr>
            <a:r>
              <a:rPr sz="4000" b="1">
                <a:solidFill>
                  <a:srgbClr val="212121"/>
                </a:solidFill>
                <a:latin typeface="BIZ UDGothic"/>
                <a:ea typeface="BIZ UDGothic"/>
              </a:rPr>
              <a:t>6. 開発環境</a:t>
            </a:r>
          </a:p>
        </p:txBody>
      </p:sp>
      <p:sp>
        <p:nvSpPr>
          <p:cNvPr id="4" name="Rectangle 3"/>
          <p:cNvSpPr/>
          <p:nvPr/>
        </p:nvSpPr>
        <p:spPr>
          <a:xfrm>
            <a:off x="411480" y="1080000"/>
            <a:ext cx="10789920" cy="22860"/>
          </a:xfrm>
          <a:prstGeom prst="rect">
            <a:avLst/>
          </a:prstGeom>
          <a:solidFill>
            <a:srgbClr val="E67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11201400" y="292608"/>
            <a:ext cx="384048" cy="384048"/>
          </a:xfrm>
          <a:prstGeom prst="ellipse">
            <a:avLst/>
          </a:prstGeom>
          <a:solidFill>
            <a:srgbClr val="E67000"/>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800" b="1">
                <a:solidFill>
                  <a:srgbClr val="FFFFFF"/>
                </a:solidFill>
                <a:latin typeface="BIZ UDGothic"/>
                <a:ea typeface="BIZ UDGothic"/>
              </a:rPr>
              <a:t>6</a:t>
            </a:r>
          </a:p>
        </p:txBody>
      </p:sp>
      <p:sp>
        <p:nvSpPr>
          <p:cNvPr id="6" name="Rectangle 5"/>
          <p:cNvSpPr/>
          <p:nvPr/>
        </p:nvSpPr>
        <p:spPr>
          <a:xfrm>
            <a:off x="0" y="6565392"/>
            <a:ext cx="12191695" cy="292608"/>
          </a:xfrm>
          <a:prstGeom prst="rect">
            <a:avLst/>
          </a:prstGeom>
          <a:solidFill>
            <a:srgbClr val="E67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251960" y="6601968"/>
            <a:ext cx="3657600" cy="201168"/>
          </a:xfrm>
          <a:prstGeom prst="rect">
            <a:avLst/>
          </a:prstGeom>
          <a:noFill/>
        </p:spPr>
        <p:txBody>
          <a:bodyPr wrap="none" lIns="0" tIns="0" rIns="0" bIns="0" anchor="t">
            <a:spAutoFit/>
          </a:bodyPr>
          <a:lstStyle/>
          <a:p>
            <a:pPr algn="ctr">
              <a:lnSpc>
                <a:spcPct val="115000"/>
              </a:lnSpc>
            </a:pPr>
            <a:r>
              <a:rPr sz="1200" b="1">
                <a:solidFill>
                  <a:srgbClr val="FFFFFF"/>
                </a:solidFill>
                <a:latin typeface="BIZ UDGothic"/>
                <a:ea typeface="BIZ UDGothic"/>
              </a:rPr>
              <a:t>AI詰将棋トレーナー　発表資料</a:t>
            </a:r>
          </a:p>
        </p:txBody>
      </p:sp>
      <p:sp>
        <p:nvSpPr>
          <p:cNvPr id="8" name="Rounded Rectangle 7"/>
          <p:cNvSpPr/>
          <p:nvPr/>
        </p:nvSpPr>
        <p:spPr>
          <a:xfrm>
            <a:off x="900000" y="1350000"/>
            <a:ext cx="3000000" cy="650000"/>
          </a:xfrm>
          <a:prstGeom prst="roundRect">
            <a:avLst/>
          </a:prstGeom>
          <a:solidFill>
            <a:srgbClr val="E67000"/>
          </a:solidFill>
          <a:ln>
            <a:noFill/>
          </a:ln>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r>
              <a:rPr sz="2400" b="1">
                <a:solidFill>
                  <a:srgbClr val="FFFFFF"/>
                </a:solidFill>
                <a:latin typeface="BIZ UDGothic"/>
                <a:ea typeface="BIZ UDGothic"/>
              </a:rPr>
              <a:t>エディタ</a:t>
            </a:r>
          </a:p>
        </p:txBody>
      </p:sp>
      <p:sp>
        <p:nvSpPr>
          <p:cNvPr id="9" name="TextBox 8"/>
          <p:cNvSpPr txBox="1"/>
          <p:nvPr/>
        </p:nvSpPr>
        <p:spPr>
          <a:xfrm>
            <a:off x="4930000" y="1350000"/>
            <a:ext cx="6370000" cy="650000"/>
          </a:xfrm>
          <a:prstGeom prst="rect">
            <a:avLst/>
          </a:prstGeom>
          <a:noFill/>
        </p:spPr>
        <p:txBody>
          <a:bodyPr wrap="square" lIns="0" tIns="0" rIns="0" bIns="0" anchor="ctr">
            <a:spAutoFit/>
          </a:bodyPr>
          <a:lstStyle/>
          <a:p>
            <a:pPr algn="l">
              <a:lnSpc>
                <a:spcPct val="115000"/>
              </a:lnSpc>
            </a:pPr>
            <a:r>
              <a:rPr sz="3000" b="0">
                <a:solidFill>
                  <a:srgbClr val="212121"/>
                </a:solidFill>
                <a:latin typeface="BIZ UDGothic"/>
                <a:ea typeface="BIZ UDGothic"/>
              </a:rPr>
              <a:t>Visual Studio Code</a:t>
            </a:r>
          </a:p>
        </p:txBody>
      </p:sp>
      <p:sp>
        <p:nvSpPr>
          <p:cNvPr id="10" name="Rounded Rectangle 9"/>
          <p:cNvSpPr/>
          <p:nvPr/>
        </p:nvSpPr>
        <p:spPr>
          <a:xfrm>
            <a:off x="900000" y="2180000"/>
            <a:ext cx="3000000" cy="650000"/>
          </a:xfrm>
          <a:prstGeom prst="roundRect">
            <a:avLst/>
          </a:prstGeom>
          <a:solidFill>
            <a:srgbClr val="E67000"/>
          </a:solidFill>
          <a:ln>
            <a:noFill/>
          </a:ln>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r>
              <a:rPr sz="2400" b="1">
                <a:solidFill>
                  <a:srgbClr val="FFFFFF"/>
                </a:solidFill>
                <a:latin typeface="BIZ UDGothic"/>
                <a:ea typeface="BIZ UDGothic"/>
              </a:rPr>
              <a:t>言語・実行環境</a:t>
            </a:r>
          </a:p>
        </p:txBody>
      </p:sp>
      <p:sp>
        <p:nvSpPr>
          <p:cNvPr id="11" name="TextBox 10"/>
          <p:cNvSpPr txBox="1"/>
          <p:nvPr/>
        </p:nvSpPr>
        <p:spPr>
          <a:xfrm>
            <a:off x="5510000" y="2180000"/>
            <a:ext cx="5790000" cy="650000"/>
          </a:xfrm>
          <a:prstGeom prst="rect">
            <a:avLst/>
          </a:prstGeom>
          <a:noFill/>
        </p:spPr>
        <p:txBody>
          <a:bodyPr wrap="square" lIns="0" tIns="0" rIns="0" bIns="0" anchor="ctr">
            <a:spAutoFit/>
          </a:bodyPr>
          <a:lstStyle/>
          <a:p>
            <a:pPr algn="l">
              <a:lnSpc>
                <a:spcPct val="115000"/>
              </a:lnSpc>
            </a:pPr>
            <a:r>
              <a:rPr sz="3000" b="0">
                <a:solidFill>
                  <a:srgbClr val="212121"/>
                </a:solidFill>
                <a:latin typeface="BIZ UDGothic"/>
                <a:ea typeface="BIZ UDGothic"/>
              </a:rPr>
              <a:t>Node.js / TypeScript</a:t>
            </a:r>
          </a:p>
        </p:txBody>
      </p:sp>
      <p:sp>
        <p:nvSpPr>
          <p:cNvPr id="12" name="Rounded Rectangle 11"/>
          <p:cNvSpPr/>
          <p:nvPr/>
        </p:nvSpPr>
        <p:spPr>
          <a:xfrm>
            <a:off x="900000" y="3010000"/>
            <a:ext cx="3000000" cy="650000"/>
          </a:xfrm>
          <a:prstGeom prst="roundRect">
            <a:avLst/>
          </a:prstGeom>
          <a:solidFill>
            <a:srgbClr val="E67000"/>
          </a:solidFill>
          <a:ln>
            <a:noFill/>
          </a:ln>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r>
              <a:rPr sz="2400" b="1">
                <a:solidFill>
                  <a:srgbClr val="FFFFFF"/>
                </a:solidFill>
                <a:latin typeface="BIZ UDGothic"/>
                <a:ea typeface="BIZ UDGothic"/>
              </a:rPr>
              <a:t>バージョン管理</a:t>
            </a:r>
          </a:p>
        </p:txBody>
      </p:sp>
      <p:sp>
        <p:nvSpPr>
          <p:cNvPr id="13" name="TextBox 12"/>
          <p:cNvSpPr txBox="1"/>
          <p:nvPr/>
        </p:nvSpPr>
        <p:spPr>
          <a:xfrm>
            <a:off x="5510000" y="3010000"/>
            <a:ext cx="5790000" cy="650000"/>
          </a:xfrm>
          <a:prstGeom prst="rect">
            <a:avLst/>
          </a:prstGeom>
          <a:noFill/>
        </p:spPr>
        <p:txBody>
          <a:bodyPr wrap="square" lIns="0" tIns="0" rIns="0" bIns="0" anchor="ctr">
            <a:spAutoFit/>
          </a:bodyPr>
          <a:lstStyle/>
          <a:p>
            <a:pPr algn="l">
              <a:lnSpc>
                <a:spcPct val="115000"/>
              </a:lnSpc>
            </a:pPr>
            <a:r>
              <a:rPr sz="3000" b="0">
                <a:solidFill>
                  <a:srgbClr val="212121"/>
                </a:solidFill>
                <a:latin typeface="BIZ UDGothic"/>
                <a:ea typeface="BIZ UDGothic"/>
              </a:rPr>
              <a:t>Git / GitHub</a:t>
            </a:r>
          </a:p>
        </p:txBody>
      </p:sp>
      <p:sp>
        <p:nvSpPr>
          <p:cNvPr id="14" name="Rounded Rectangle 13"/>
          <p:cNvSpPr/>
          <p:nvPr/>
        </p:nvSpPr>
        <p:spPr>
          <a:xfrm>
            <a:off x="900000" y="3840000"/>
            <a:ext cx="3000000" cy="650000"/>
          </a:xfrm>
          <a:prstGeom prst="roundRect">
            <a:avLst/>
          </a:prstGeom>
          <a:solidFill>
            <a:srgbClr val="E67000"/>
          </a:solidFill>
          <a:ln>
            <a:noFill/>
          </a:ln>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r>
              <a:rPr sz="2400" b="1">
                <a:solidFill>
                  <a:srgbClr val="FFFFFF"/>
                </a:solidFill>
                <a:latin typeface="BIZ UDGothic"/>
                <a:ea typeface="BIZ UDGothic"/>
              </a:rPr>
              <a:t>品質管理</a:t>
            </a:r>
          </a:p>
        </p:txBody>
      </p:sp>
      <p:sp>
        <p:nvSpPr>
          <p:cNvPr id="15" name="TextBox 14"/>
          <p:cNvSpPr txBox="1"/>
          <p:nvPr/>
        </p:nvSpPr>
        <p:spPr>
          <a:xfrm>
            <a:off x="4930000" y="3840000"/>
            <a:ext cx="6370000" cy="650000"/>
          </a:xfrm>
          <a:prstGeom prst="rect">
            <a:avLst/>
          </a:prstGeom>
          <a:noFill/>
        </p:spPr>
        <p:txBody>
          <a:bodyPr wrap="square" lIns="0" tIns="0" rIns="0" bIns="0" anchor="ctr">
            <a:spAutoFit/>
          </a:bodyPr>
          <a:lstStyle/>
          <a:p>
            <a:pPr algn="l">
              <a:lnSpc>
                <a:spcPct val="115000"/>
              </a:lnSpc>
            </a:pPr>
            <a:r>
              <a:rPr sz="3000" b="0">
                <a:solidFill>
                  <a:srgbClr val="212121"/>
                </a:solidFill>
                <a:latin typeface="BIZ UDGothic"/>
                <a:ea typeface="BIZ UDGothic"/>
              </a:rPr>
              <a:t>ESLint</a:t>
            </a:r>
          </a:p>
        </p:txBody>
      </p:sp>
      <p:sp>
        <p:nvSpPr>
          <p:cNvPr id="16" name="Rounded Rectangle 15"/>
          <p:cNvSpPr/>
          <p:nvPr/>
        </p:nvSpPr>
        <p:spPr>
          <a:xfrm>
            <a:off x="900000" y="4670000"/>
            <a:ext cx="3000000" cy="650000"/>
          </a:xfrm>
          <a:prstGeom prst="roundRect">
            <a:avLst/>
          </a:prstGeom>
          <a:solidFill>
            <a:srgbClr val="E67000"/>
          </a:solidFill>
          <a:ln>
            <a:noFill/>
          </a:ln>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r>
              <a:rPr sz="2400" b="1">
                <a:solidFill>
                  <a:srgbClr val="FFFFFF"/>
                </a:solidFill>
                <a:latin typeface="BIZ UDGothic"/>
                <a:ea typeface="BIZ UDGothic"/>
              </a:rPr>
              <a:t>デプロイ</a:t>
            </a:r>
          </a:p>
        </p:txBody>
      </p:sp>
      <p:sp>
        <p:nvSpPr>
          <p:cNvPr id="17" name="TextBox 16"/>
          <p:cNvSpPr txBox="1"/>
          <p:nvPr/>
        </p:nvSpPr>
        <p:spPr>
          <a:xfrm>
            <a:off x="4930000" y="4670000"/>
            <a:ext cx="6370000" cy="650000"/>
          </a:xfrm>
          <a:prstGeom prst="rect">
            <a:avLst/>
          </a:prstGeom>
          <a:noFill/>
        </p:spPr>
        <p:txBody>
          <a:bodyPr wrap="square" lIns="0" tIns="0" rIns="0" bIns="0" anchor="ctr">
            <a:spAutoFit/>
          </a:bodyPr>
          <a:lstStyle/>
          <a:p>
            <a:pPr algn="l">
              <a:lnSpc>
                <a:spcPct val="115000"/>
              </a:lnSpc>
            </a:pPr>
            <a:r>
              <a:rPr sz="3000" b="0">
                <a:solidFill>
                  <a:srgbClr val="212121"/>
                </a:solidFill>
                <a:latin typeface="BIZ UDGothic"/>
                <a:ea typeface="BIZ UDGothic"/>
              </a:rPr>
              <a:t>Netlify（自動デプロイ）</a:t>
            </a:r>
          </a:p>
        </p:txBody>
      </p:sp>
      <p:pic>
        <p:nvPicPr>
          <p:cNvPr id="18" name="Picture 17" descr="vscode.png"/>
          <p:cNvPicPr>
            <a:picLocks noChangeAspect="1"/>
          </p:cNvPicPr>
          <p:nvPr/>
        </p:nvPicPr>
        <p:blipFill>
          <a:blip r:embed="rId3"/>
          <a:stretch>
            <a:fillRect/>
          </a:stretch>
        </p:blipFill>
        <p:spPr>
          <a:xfrm>
            <a:off x="4300000" y="1435000"/>
            <a:ext cx="480000" cy="480000"/>
          </a:xfrm>
          <a:prstGeom prst="rect">
            <a:avLst/>
          </a:prstGeom>
        </p:spPr>
      </p:pic>
      <p:pic>
        <p:nvPicPr>
          <p:cNvPr id="19" name="Picture 18" descr="nodedotjs.png"/>
          <p:cNvPicPr>
            <a:picLocks noChangeAspect="1"/>
          </p:cNvPicPr>
          <p:nvPr/>
        </p:nvPicPr>
        <p:blipFill>
          <a:blip r:embed="rId4"/>
          <a:stretch>
            <a:fillRect/>
          </a:stretch>
        </p:blipFill>
        <p:spPr>
          <a:xfrm>
            <a:off x="4300000" y="2265000"/>
            <a:ext cx="480000" cy="480000"/>
          </a:xfrm>
          <a:prstGeom prst="rect">
            <a:avLst/>
          </a:prstGeom>
        </p:spPr>
      </p:pic>
      <p:pic>
        <p:nvPicPr>
          <p:cNvPr id="20" name="Picture 19" descr="typescript.png"/>
          <p:cNvPicPr>
            <a:picLocks noChangeAspect="1"/>
          </p:cNvPicPr>
          <p:nvPr/>
        </p:nvPicPr>
        <p:blipFill>
          <a:blip r:embed="rId5"/>
          <a:stretch>
            <a:fillRect/>
          </a:stretch>
        </p:blipFill>
        <p:spPr>
          <a:xfrm>
            <a:off x="4880000" y="2265000"/>
            <a:ext cx="480000" cy="480000"/>
          </a:xfrm>
          <a:prstGeom prst="rect">
            <a:avLst/>
          </a:prstGeom>
        </p:spPr>
      </p:pic>
      <p:pic>
        <p:nvPicPr>
          <p:cNvPr id="21" name="Picture 20" descr="git.png"/>
          <p:cNvPicPr>
            <a:picLocks noChangeAspect="1"/>
          </p:cNvPicPr>
          <p:nvPr/>
        </p:nvPicPr>
        <p:blipFill>
          <a:blip r:embed="rId6"/>
          <a:stretch>
            <a:fillRect/>
          </a:stretch>
        </p:blipFill>
        <p:spPr>
          <a:xfrm>
            <a:off x="4300000" y="3095000"/>
            <a:ext cx="480000" cy="480000"/>
          </a:xfrm>
          <a:prstGeom prst="rect">
            <a:avLst/>
          </a:prstGeom>
        </p:spPr>
      </p:pic>
      <p:pic>
        <p:nvPicPr>
          <p:cNvPr id="22" name="Picture 21" descr="github.png"/>
          <p:cNvPicPr>
            <a:picLocks noChangeAspect="1"/>
          </p:cNvPicPr>
          <p:nvPr/>
        </p:nvPicPr>
        <p:blipFill>
          <a:blip r:embed="rId7"/>
          <a:stretch>
            <a:fillRect/>
          </a:stretch>
        </p:blipFill>
        <p:spPr>
          <a:xfrm>
            <a:off x="4880000" y="3095000"/>
            <a:ext cx="480000" cy="480000"/>
          </a:xfrm>
          <a:prstGeom prst="rect">
            <a:avLst/>
          </a:prstGeom>
        </p:spPr>
      </p:pic>
      <p:pic>
        <p:nvPicPr>
          <p:cNvPr id="23" name="Picture 22" descr="eslint.png"/>
          <p:cNvPicPr>
            <a:picLocks noChangeAspect="1"/>
          </p:cNvPicPr>
          <p:nvPr/>
        </p:nvPicPr>
        <p:blipFill>
          <a:blip r:embed="rId8"/>
          <a:stretch>
            <a:fillRect/>
          </a:stretch>
        </p:blipFill>
        <p:spPr>
          <a:xfrm>
            <a:off x="4300000" y="3925000"/>
            <a:ext cx="480000" cy="480000"/>
          </a:xfrm>
          <a:prstGeom prst="rect">
            <a:avLst/>
          </a:prstGeom>
        </p:spPr>
      </p:pic>
      <p:pic>
        <p:nvPicPr>
          <p:cNvPr id="24" name="Picture 23" descr="netlify.png"/>
          <p:cNvPicPr>
            <a:picLocks noChangeAspect="1"/>
          </p:cNvPicPr>
          <p:nvPr/>
        </p:nvPicPr>
        <p:blipFill>
          <a:blip r:embed="rId9"/>
          <a:stretch>
            <a:fillRect/>
          </a:stretch>
        </p:blipFill>
        <p:spPr>
          <a:xfrm>
            <a:off x="4300000" y="4755000"/>
            <a:ext cx="480000" cy="4800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8458200" y="164592"/>
            <a:ext cx="2423160" cy="274320"/>
          </a:xfrm>
          <a:prstGeom prst="rect">
            <a:avLst/>
          </a:prstGeom>
          <a:noFill/>
        </p:spPr>
        <p:txBody>
          <a:bodyPr wrap="none" lIns="0" tIns="0" rIns="0" bIns="0" anchor="t">
            <a:spAutoFit/>
          </a:bodyPr>
          <a:lstStyle/>
          <a:p>
            <a:pPr algn="r">
              <a:lnSpc>
                <a:spcPct val="115000"/>
              </a:lnSpc>
            </a:pPr>
            <a:r>
              <a:rPr sz="1400" b="0">
                <a:solidFill>
                  <a:srgbClr val="5C5C5C"/>
                </a:solidFill>
                <a:latin typeface="BIZ UDGothic"/>
                <a:ea typeface="BIZ UDGothic"/>
              </a:rPr>
              <a:t>チーム：ねるねるねるね</a:t>
            </a:r>
          </a:p>
        </p:txBody>
      </p:sp>
      <p:sp>
        <p:nvSpPr>
          <p:cNvPr id="3" name="TextBox 2"/>
          <p:cNvSpPr txBox="1"/>
          <p:nvPr/>
        </p:nvSpPr>
        <p:spPr>
          <a:xfrm>
            <a:off x="411480" y="300000"/>
            <a:ext cx="9500000" cy="560000"/>
          </a:xfrm>
          <a:prstGeom prst="rect">
            <a:avLst/>
          </a:prstGeom>
          <a:noFill/>
        </p:spPr>
        <p:txBody>
          <a:bodyPr wrap="none" lIns="0" tIns="0" rIns="0" bIns="0" anchor="t">
            <a:spAutoFit/>
          </a:bodyPr>
          <a:lstStyle/>
          <a:p>
            <a:pPr algn="l">
              <a:lnSpc>
                <a:spcPct val="115000"/>
              </a:lnSpc>
            </a:pPr>
            <a:r>
              <a:rPr sz="4000" b="1">
                <a:solidFill>
                  <a:srgbClr val="212121"/>
                </a:solidFill>
                <a:latin typeface="BIZ UDGothic"/>
                <a:ea typeface="BIZ UDGothic"/>
              </a:rPr>
              <a:t>7. 画面紹介：ホーム画面</a:t>
            </a:r>
          </a:p>
        </p:txBody>
      </p:sp>
      <p:sp>
        <p:nvSpPr>
          <p:cNvPr id="4" name="Rectangle 3"/>
          <p:cNvSpPr/>
          <p:nvPr/>
        </p:nvSpPr>
        <p:spPr>
          <a:xfrm>
            <a:off x="411480" y="1080000"/>
            <a:ext cx="10789920" cy="22860"/>
          </a:xfrm>
          <a:prstGeom prst="rect">
            <a:avLst/>
          </a:prstGeom>
          <a:solidFill>
            <a:srgbClr val="E67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11201400" y="292608"/>
            <a:ext cx="384048" cy="384048"/>
          </a:xfrm>
          <a:prstGeom prst="ellipse">
            <a:avLst/>
          </a:prstGeom>
          <a:solidFill>
            <a:srgbClr val="E67000"/>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800" b="1">
                <a:solidFill>
                  <a:srgbClr val="FFFFFF"/>
                </a:solidFill>
                <a:latin typeface="BIZ UDGothic"/>
                <a:ea typeface="BIZ UDGothic"/>
              </a:rPr>
              <a:t>7</a:t>
            </a:r>
          </a:p>
        </p:txBody>
      </p:sp>
      <p:sp>
        <p:nvSpPr>
          <p:cNvPr id="6" name="Rectangle 5"/>
          <p:cNvSpPr/>
          <p:nvPr/>
        </p:nvSpPr>
        <p:spPr>
          <a:xfrm>
            <a:off x="0" y="6565392"/>
            <a:ext cx="12191695" cy="292608"/>
          </a:xfrm>
          <a:prstGeom prst="rect">
            <a:avLst/>
          </a:prstGeom>
          <a:solidFill>
            <a:srgbClr val="E67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251960" y="6601968"/>
            <a:ext cx="3657600" cy="201168"/>
          </a:xfrm>
          <a:prstGeom prst="rect">
            <a:avLst/>
          </a:prstGeom>
          <a:noFill/>
        </p:spPr>
        <p:txBody>
          <a:bodyPr wrap="none" lIns="0" tIns="0" rIns="0" bIns="0" anchor="t">
            <a:spAutoFit/>
          </a:bodyPr>
          <a:lstStyle/>
          <a:p>
            <a:pPr algn="ctr">
              <a:lnSpc>
                <a:spcPct val="115000"/>
              </a:lnSpc>
            </a:pPr>
            <a:r>
              <a:rPr sz="1200" b="1">
                <a:solidFill>
                  <a:srgbClr val="FFFFFF"/>
                </a:solidFill>
                <a:latin typeface="BIZ UDGothic"/>
                <a:ea typeface="BIZ UDGothic"/>
              </a:rPr>
              <a:t>AI詰将棋トレーナー　発表資料</a:t>
            </a:r>
          </a:p>
        </p:txBody>
      </p:sp>
      <p:sp>
        <p:nvSpPr>
          <p:cNvPr id="8" name="Rounded Rectangle 7"/>
          <p:cNvSpPr/>
          <p:nvPr/>
        </p:nvSpPr>
        <p:spPr>
          <a:xfrm>
            <a:off x="400000" y="1350000"/>
            <a:ext cx="6892000" cy="5050000"/>
          </a:xfrm>
          <a:prstGeom prst="roundRect">
            <a:avLst>
              <a:gd name="adj" fmla="val 6000"/>
            </a:avLst>
          </a:prstGeom>
          <a:solidFill>
            <a:srgbClr val="FFFFFF"/>
          </a:solidFill>
          <a:ln w="19050">
            <a:solidFill>
              <a:srgbClr val="F0AA5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1" name="Picture 8" descr="crop_home.png"/>
          <p:cNvPicPr>
            <a:picLocks noChangeAspect="1"/>
          </p:cNvPicPr>
          <p:nvPr/>
        </p:nvPicPr>
        <p:blipFill>
          <a:blip r:embed="rId3"/>
          <a:stretch>
            <a:fillRect/>
          </a:stretch>
        </p:blipFill>
        <p:spPr>
          <a:xfrm>
            <a:off x="550000" y="2593222"/>
            <a:ext cx="6592000" cy="2563555"/>
          </a:xfrm>
          <a:prstGeom prst="rect">
            <a:avLst/>
          </a:prstGeom>
        </p:spPr>
      </p:pic>
      <p:sp>
        <p:nvSpPr>
          <p:cNvPr id="10" name="TextBox 9"/>
          <p:cNvSpPr txBox="1"/>
          <p:nvPr/>
        </p:nvSpPr>
        <p:spPr>
          <a:xfrm>
            <a:off x="7592000" y="2800000"/>
            <a:ext cx="4200000" cy="2200000"/>
          </a:xfrm>
          <a:prstGeom prst="rect">
            <a:avLst/>
          </a:prstGeom>
          <a:noFill/>
        </p:spPr>
        <p:txBody>
          <a:bodyPr wrap="square" lIns="0" tIns="0" rIns="0" bIns="0">
            <a:spAutoFit/>
          </a:bodyPr>
          <a:lstStyle/>
          <a:p>
            <a:pPr>
              <a:lnSpc>
                <a:spcPct val="120000"/>
              </a:lnSpc>
              <a:spcAft>
                <a:spcPts val="2200"/>
              </a:spcAft>
            </a:pPr>
            <a:r>
              <a:rPr sz="3200" b="0">
                <a:solidFill>
                  <a:srgbClr val="212121"/>
                </a:solidFill>
                <a:latin typeface="BIZ UDGothic"/>
                <a:ea typeface="BIZ UDGothic"/>
              </a:rPr>
              <a:t>・ 今日の問題に挑戦</a:t>
            </a:r>
          </a:p>
          <a:p>
            <a:pPr>
              <a:lnSpc>
                <a:spcPct val="120000"/>
              </a:lnSpc>
              <a:spcAft>
                <a:spcPts val="2200"/>
              </a:spcAft>
            </a:pPr>
            <a:r>
              <a:rPr sz="3200" b="0">
                <a:solidFill>
                  <a:srgbClr val="212121"/>
                </a:solidFill>
                <a:latin typeface="BIZ UDGothic"/>
                <a:ea typeface="BIZ UDGothic"/>
              </a:rPr>
              <a:t>・ 問題集へ移動</a:t>
            </a:r>
          </a:p>
          <a:p>
            <a:pPr>
              <a:lnSpc>
                <a:spcPct val="120000"/>
              </a:lnSpc>
              <a:spcAft>
                <a:spcPts val="2200"/>
              </a:spcAft>
            </a:pPr>
            <a:r>
              <a:rPr sz="3200" b="0">
                <a:solidFill>
                  <a:srgbClr val="212121"/>
                </a:solidFill>
                <a:latin typeface="BIZ UDGothic"/>
                <a:ea typeface="BIZ UDGothic"/>
              </a:rPr>
              <a:t>・ 記録を管理</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8458200" y="164592"/>
            <a:ext cx="2423160" cy="274320"/>
          </a:xfrm>
          <a:prstGeom prst="rect">
            <a:avLst/>
          </a:prstGeom>
          <a:noFill/>
        </p:spPr>
        <p:txBody>
          <a:bodyPr wrap="none" lIns="0" tIns="0" rIns="0" bIns="0" anchor="t">
            <a:spAutoFit/>
          </a:bodyPr>
          <a:lstStyle/>
          <a:p>
            <a:pPr algn="r">
              <a:lnSpc>
                <a:spcPct val="115000"/>
              </a:lnSpc>
            </a:pPr>
            <a:r>
              <a:rPr sz="1400" b="0">
                <a:solidFill>
                  <a:srgbClr val="5C5C5C"/>
                </a:solidFill>
                <a:latin typeface="BIZ UDGothic"/>
                <a:ea typeface="BIZ UDGothic"/>
              </a:rPr>
              <a:t>チーム：ねるねるねるね</a:t>
            </a:r>
          </a:p>
        </p:txBody>
      </p:sp>
      <p:sp>
        <p:nvSpPr>
          <p:cNvPr id="3" name="TextBox 2"/>
          <p:cNvSpPr txBox="1"/>
          <p:nvPr/>
        </p:nvSpPr>
        <p:spPr>
          <a:xfrm>
            <a:off x="411480" y="300000"/>
            <a:ext cx="9500000" cy="560000"/>
          </a:xfrm>
          <a:prstGeom prst="rect">
            <a:avLst/>
          </a:prstGeom>
          <a:noFill/>
        </p:spPr>
        <p:txBody>
          <a:bodyPr wrap="none" lIns="0" tIns="0" rIns="0" bIns="0" anchor="t">
            <a:spAutoFit/>
          </a:bodyPr>
          <a:lstStyle/>
          <a:p>
            <a:pPr algn="l">
              <a:lnSpc>
                <a:spcPct val="115000"/>
              </a:lnSpc>
            </a:pPr>
            <a:r>
              <a:rPr sz="4000" b="1">
                <a:solidFill>
                  <a:srgbClr val="212121"/>
                </a:solidFill>
                <a:latin typeface="BIZ UDGothic"/>
                <a:ea typeface="BIZ UDGothic"/>
              </a:rPr>
              <a:t>8. 画面紹介：問題集</a:t>
            </a:r>
          </a:p>
        </p:txBody>
      </p:sp>
      <p:sp>
        <p:nvSpPr>
          <p:cNvPr id="4" name="Rectangle 3"/>
          <p:cNvSpPr/>
          <p:nvPr/>
        </p:nvSpPr>
        <p:spPr>
          <a:xfrm>
            <a:off x="411480" y="1080000"/>
            <a:ext cx="10789920" cy="22860"/>
          </a:xfrm>
          <a:prstGeom prst="rect">
            <a:avLst/>
          </a:prstGeom>
          <a:solidFill>
            <a:srgbClr val="E67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11201400" y="292608"/>
            <a:ext cx="384048" cy="384048"/>
          </a:xfrm>
          <a:prstGeom prst="ellipse">
            <a:avLst/>
          </a:prstGeom>
          <a:solidFill>
            <a:srgbClr val="E67000"/>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800" b="1">
                <a:solidFill>
                  <a:srgbClr val="FFFFFF"/>
                </a:solidFill>
                <a:latin typeface="BIZ UDGothic"/>
                <a:ea typeface="BIZ UDGothic"/>
              </a:rPr>
              <a:t>8</a:t>
            </a:r>
          </a:p>
        </p:txBody>
      </p:sp>
      <p:sp>
        <p:nvSpPr>
          <p:cNvPr id="6" name="Rectangle 5"/>
          <p:cNvSpPr/>
          <p:nvPr/>
        </p:nvSpPr>
        <p:spPr>
          <a:xfrm>
            <a:off x="0" y="6565392"/>
            <a:ext cx="12191695" cy="292608"/>
          </a:xfrm>
          <a:prstGeom prst="rect">
            <a:avLst/>
          </a:prstGeom>
          <a:solidFill>
            <a:srgbClr val="E67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251960" y="6601968"/>
            <a:ext cx="3657600" cy="201168"/>
          </a:xfrm>
          <a:prstGeom prst="rect">
            <a:avLst/>
          </a:prstGeom>
          <a:noFill/>
        </p:spPr>
        <p:txBody>
          <a:bodyPr wrap="none" lIns="0" tIns="0" rIns="0" bIns="0" anchor="t">
            <a:spAutoFit/>
          </a:bodyPr>
          <a:lstStyle/>
          <a:p>
            <a:pPr algn="ctr">
              <a:lnSpc>
                <a:spcPct val="115000"/>
              </a:lnSpc>
            </a:pPr>
            <a:r>
              <a:rPr sz="1200" b="1">
                <a:solidFill>
                  <a:srgbClr val="FFFFFF"/>
                </a:solidFill>
                <a:latin typeface="BIZ UDGothic"/>
                <a:ea typeface="BIZ UDGothic"/>
              </a:rPr>
              <a:t>AI詰将棋トレーナー　発表資料</a:t>
            </a:r>
          </a:p>
        </p:txBody>
      </p:sp>
      <p:sp>
        <p:nvSpPr>
          <p:cNvPr id="8" name="Rounded Rectangle 7"/>
          <p:cNvSpPr/>
          <p:nvPr/>
        </p:nvSpPr>
        <p:spPr>
          <a:xfrm>
            <a:off x="400000" y="1350000"/>
            <a:ext cx="6892000" cy="5050000"/>
          </a:xfrm>
          <a:prstGeom prst="roundRect">
            <a:avLst>
              <a:gd name="adj" fmla="val 6000"/>
            </a:avLst>
          </a:prstGeom>
          <a:solidFill>
            <a:srgbClr val="FFFFFF"/>
          </a:solidFill>
          <a:ln w="19050">
            <a:solidFill>
              <a:srgbClr val="F0AA5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1" name="Picture 8" descr="crop_puzzles.png"/>
          <p:cNvPicPr>
            <a:picLocks noChangeAspect="1"/>
          </p:cNvPicPr>
          <p:nvPr/>
        </p:nvPicPr>
        <p:blipFill>
          <a:blip r:embed="rId3"/>
          <a:stretch>
            <a:fillRect/>
          </a:stretch>
        </p:blipFill>
        <p:spPr>
          <a:xfrm>
            <a:off x="550000" y="2913666"/>
            <a:ext cx="6592000" cy="1922666"/>
          </a:xfrm>
          <a:prstGeom prst="rect">
            <a:avLst/>
          </a:prstGeom>
        </p:spPr>
      </p:pic>
      <p:sp>
        <p:nvSpPr>
          <p:cNvPr id="10" name="TextBox 9"/>
          <p:cNvSpPr txBox="1"/>
          <p:nvPr/>
        </p:nvSpPr>
        <p:spPr>
          <a:xfrm>
            <a:off x="7592000" y="2800000"/>
            <a:ext cx="4200000" cy="2200000"/>
          </a:xfrm>
          <a:prstGeom prst="rect">
            <a:avLst/>
          </a:prstGeom>
          <a:noFill/>
        </p:spPr>
        <p:txBody>
          <a:bodyPr wrap="square" lIns="0" tIns="0" rIns="0" bIns="0">
            <a:spAutoFit/>
          </a:bodyPr>
          <a:lstStyle/>
          <a:p>
            <a:pPr>
              <a:lnSpc>
                <a:spcPct val="120000"/>
              </a:lnSpc>
              <a:spcAft>
                <a:spcPts val="2200"/>
              </a:spcAft>
            </a:pPr>
            <a:r>
              <a:rPr sz="3200" b="0">
                <a:solidFill>
                  <a:srgbClr val="212121"/>
                </a:solidFill>
                <a:latin typeface="BIZ UDGothic"/>
                <a:ea typeface="BIZ UDGothic"/>
              </a:rPr>
              <a:t>・ 過去問を復習</a:t>
            </a:r>
          </a:p>
          <a:p>
            <a:pPr>
              <a:lnSpc>
                <a:spcPct val="120000"/>
              </a:lnSpc>
              <a:spcAft>
                <a:spcPts val="2200"/>
              </a:spcAft>
            </a:pPr>
            <a:r>
              <a:rPr sz="3200" b="0">
                <a:solidFill>
                  <a:srgbClr val="212121"/>
                </a:solidFill>
                <a:latin typeface="BIZ UDGothic"/>
                <a:ea typeface="BIZ UDGothic"/>
              </a:rPr>
              <a:t>・ レベル別に探せる</a:t>
            </a:r>
          </a:p>
          <a:p>
            <a:pPr>
              <a:lnSpc>
                <a:spcPct val="120000"/>
              </a:lnSpc>
              <a:spcAft>
                <a:spcPts val="2200"/>
              </a:spcAft>
            </a:pPr>
            <a:r>
              <a:rPr sz="3200" b="0">
                <a:solidFill>
                  <a:srgbClr val="212121"/>
                </a:solidFill>
                <a:latin typeface="BIZ UDGothic"/>
                <a:ea typeface="BIZ UDGothic"/>
              </a:rPr>
              <a:t>・ 継続学習に活用</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8458200" y="164592"/>
            <a:ext cx="2423160" cy="274320"/>
          </a:xfrm>
          <a:prstGeom prst="rect">
            <a:avLst/>
          </a:prstGeom>
          <a:noFill/>
        </p:spPr>
        <p:txBody>
          <a:bodyPr wrap="none" lIns="0" tIns="0" rIns="0" bIns="0" anchor="t">
            <a:spAutoFit/>
          </a:bodyPr>
          <a:lstStyle/>
          <a:p>
            <a:pPr algn="r">
              <a:lnSpc>
                <a:spcPct val="115000"/>
              </a:lnSpc>
            </a:pPr>
            <a:r>
              <a:rPr sz="1400" b="0">
                <a:solidFill>
                  <a:srgbClr val="5C5C5C"/>
                </a:solidFill>
                <a:latin typeface="BIZ UDGothic"/>
                <a:ea typeface="BIZ UDGothic"/>
              </a:rPr>
              <a:t>チーム：ねるねるねるね</a:t>
            </a:r>
          </a:p>
        </p:txBody>
      </p:sp>
      <p:sp>
        <p:nvSpPr>
          <p:cNvPr id="3" name="TextBox 2"/>
          <p:cNvSpPr txBox="1"/>
          <p:nvPr/>
        </p:nvSpPr>
        <p:spPr>
          <a:xfrm>
            <a:off x="411480" y="300000"/>
            <a:ext cx="9500000" cy="560000"/>
          </a:xfrm>
          <a:prstGeom prst="rect">
            <a:avLst/>
          </a:prstGeom>
          <a:noFill/>
        </p:spPr>
        <p:txBody>
          <a:bodyPr wrap="none" lIns="0" tIns="0" rIns="0" bIns="0" anchor="t">
            <a:spAutoFit/>
          </a:bodyPr>
          <a:lstStyle/>
          <a:p>
            <a:pPr algn="l">
              <a:lnSpc>
                <a:spcPct val="115000"/>
              </a:lnSpc>
            </a:pPr>
            <a:r>
              <a:rPr sz="4000" b="1">
                <a:solidFill>
                  <a:srgbClr val="212121"/>
                </a:solidFill>
                <a:latin typeface="BIZ UDGothic"/>
                <a:ea typeface="BIZ UDGothic"/>
              </a:rPr>
              <a:t>9. 画面紹介：プレイ画面</a:t>
            </a:r>
          </a:p>
        </p:txBody>
      </p:sp>
      <p:sp>
        <p:nvSpPr>
          <p:cNvPr id="4" name="Rectangle 3"/>
          <p:cNvSpPr/>
          <p:nvPr/>
        </p:nvSpPr>
        <p:spPr>
          <a:xfrm>
            <a:off x="411480" y="1080000"/>
            <a:ext cx="10789920" cy="22860"/>
          </a:xfrm>
          <a:prstGeom prst="rect">
            <a:avLst/>
          </a:prstGeom>
          <a:solidFill>
            <a:srgbClr val="E67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11201400" y="292608"/>
            <a:ext cx="384048" cy="384048"/>
          </a:xfrm>
          <a:prstGeom prst="ellipse">
            <a:avLst/>
          </a:prstGeom>
          <a:solidFill>
            <a:srgbClr val="E67000"/>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800" b="1">
                <a:solidFill>
                  <a:srgbClr val="FFFFFF"/>
                </a:solidFill>
                <a:latin typeface="BIZ UDGothic"/>
                <a:ea typeface="BIZ UDGothic"/>
              </a:rPr>
              <a:t>9</a:t>
            </a:r>
          </a:p>
        </p:txBody>
      </p:sp>
      <p:sp>
        <p:nvSpPr>
          <p:cNvPr id="6" name="Rectangle 5"/>
          <p:cNvSpPr/>
          <p:nvPr/>
        </p:nvSpPr>
        <p:spPr>
          <a:xfrm>
            <a:off x="0" y="6565392"/>
            <a:ext cx="12191695" cy="292608"/>
          </a:xfrm>
          <a:prstGeom prst="rect">
            <a:avLst/>
          </a:prstGeom>
          <a:solidFill>
            <a:srgbClr val="E67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251960" y="6601968"/>
            <a:ext cx="3657600" cy="201168"/>
          </a:xfrm>
          <a:prstGeom prst="rect">
            <a:avLst/>
          </a:prstGeom>
          <a:noFill/>
        </p:spPr>
        <p:txBody>
          <a:bodyPr wrap="none" lIns="0" tIns="0" rIns="0" bIns="0" anchor="t">
            <a:spAutoFit/>
          </a:bodyPr>
          <a:lstStyle/>
          <a:p>
            <a:pPr algn="ctr">
              <a:lnSpc>
                <a:spcPct val="115000"/>
              </a:lnSpc>
            </a:pPr>
            <a:r>
              <a:rPr sz="1200" b="1">
                <a:solidFill>
                  <a:srgbClr val="FFFFFF"/>
                </a:solidFill>
                <a:latin typeface="BIZ UDGothic"/>
                <a:ea typeface="BIZ UDGothic"/>
              </a:rPr>
              <a:t>AI詰将棋トレーナー　発表資料</a:t>
            </a:r>
          </a:p>
        </p:txBody>
      </p:sp>
      <p:sp>
        <p:nvSpPr>
          <p:cNvPr id="8" name="Rounded Rectangle 7"/>
          <p:cNvSpPr/>
          <p:nvPr/>
        </p:nvSpPr>
        <p:spPr>
          <a:xfrm>
            <a:off x="400000" y="1350000"/>
            <a:ext cx="6892000" cy="5050000"/>
          </a:xfrm>
          <a:prstGeom prst="roundRect">
            <a:avLst>
              <a:gd name="adj" fmla="val 6000"/>
            </a:avLst>
          </a:prstGeom>
          <a:solidFill>
            <a:srgbClr val="FFFFFF"/>
          </a:solidFill>
          <a:ln w="19050">
            <a:solidFill>
              <a:srgbClr val="F0AA5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1" name="Picture 8" descr="crop_play.png"/>
          <p:cNvPicPr>
            <a:picLocks noChangeAspect="1"/>
          </p:cNvPicPr>
          <p:nvPr/>
        </p:nvPicPr>
        <p:blipFill>
          <a:blip r:embed="rId3"/>
          <a:stretch>
            <a:fillRect/>
          </a:stretch>
        </p:blipFill>
        <p:spPr>
          <a:xfrm>
            <a:off x="550000" y="1815000"/>
            <a:ext cx="6592000" cy="4120000"/>
          </a:xfrm>
          <a:prstGeom prst="rect">
            <a:avLst/>
          </a:prstGeom>
        </p:spPr>
      </p:pic>
      <p:sp>
        <p:nvSpPr>
          <p:cNvPr id="10" name="TextBox 9"/>
          <p:cNvSpPr txBox="1"/>
          <p:nvPr/>
        </p:nvSpPr>
        <p:spPr>
          <a:xfrm>
            <a:off x="7592000" y="2800000"/>
            <a:ext cx="4200000" cy="2200000"/>
          </a:xfrm>
          <a:prstGeom prst="rect">
            <a:avLst/>
          </a:prstGeom>
          <a:noFill/>
        </p:spPr>
        <p:txBody>
          <a:bodyPr wrap="square" lIns="0" tIns="0" rIns="0" bIns="0">
            <a:spAutoFit/>
          </a:bodyPr>
          <a:lstStyle/>
          <a:p>
            <a:pPr>
              <a:lnSpc>
                <a:spcPct val="120000"/>
              </a:lnSpc>
              <a:spcAft>
                <a:spcPts val="2200"/>
              </a:spcAft>
            </a:pPr>
            <a:r>
              <a:rPr sz="3200" b="0">
                <a:solidFill>
                  <a:srgbClr val="212121"/>
                </a:solidFill>
                <a:latin typeface="BIZ UDGothic"/>
                <a:ea typeface="BIZ UDGothic"/>
              </a:rPr>
              <a:t>・ 一手を考える</a:t>
            </a:r>
          </a:p>
          <a:p>
            <a:pPr>
              <a:lnSpc>
                <a:spcPct val="120000"/>
              </a:lnSpc>
              <a:spcAft>
                <a:spcPts val="2200"/>
              </a:spcAft>
            </a:pPr>
            <a:r>
              <a:rPr sz="3200" b="0">
                <a:solidFill>
                  <a:srgbClr val="212121"/>
                </a:solidFill>
                <a:latin typeface="BIZ UDGothic"/>
                <a:ea typeface="BIZ UDGothic"/>
              </a:rPr>
              <a:t>・ 持ち駒で指す</a:t>
            </a:r>
          </a:p>
          <a:p>
            <a:pPr>
              <a:lnSpc>
                <a:spcPct val="120000"/>
              </a:lnSpc>
              <a:spcAft>
                <a:spcPts val="2200"/>
              </a:spcAft>
            </a:pPr>
            <a:r>
              <a:rPr sz="3200" b="0">
                <a:solidFill>
                  <a:srgbClr val="212121"/>
                </a:solidFill>
                <a:latin typeface="BIZ UDGothic"/>
                <a:ea typeface="BIZ UDGothic"/>
              </a:rPr>
              <a:t>・ ヒントで前進</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8458200" y="164592"/>
            <a:ext cx="2423160" cy="274320"/>
          </a:xfrm>
          <a:prstGeom prst="rect">
            <a:avLst/>
          </a:prstGeom>
          <a:noFill/>
        </p:spPr>
        <p:txBody>
          <a:bodyPr wrap="none" lIns="0" tIns="0" rIns="0" bIns="0" anchor="t">
            <a:spAutoFit/>
          </a:bodyPr>
          <a:lstStyle/>
          <a:p>
            <a:pPr algn="r">
              <a:lnSpc>
                <a:spcPct val="115000"/>
              </a:lnSpc>
            </a:pPr>
            <a:r>
              <a:rPr sz="1400" b="0">
                <a:solidFill>
                  <a:srgbClr val="5C5C5C"/>
                </a:solidFill>
                <a:latin typeface="BIZ UDGothic"/>
                <a:ea typeface="BIZ UDGothic"/>
              </a:rPr>
              <a:t>チーム：ねるねるねるね</a:t>
            </a:r>
          </a:p>
        </p:txBody>
      </p:sp>
      <p:sp>
        <p:nvSpPr>
          <p:cNvPr id="3" name="TextBox 2"/>
          <p:cNvSpPr txBox="1"/>
          <p:nvPr/>
        </p:nvSpPr>
        <p:spPr>
          <a:xfrm>
            <a:off x="411480" y="300000"/>
            <a:ext cx="9500000" cy="560000"/>
          </a:xfrm>
          <a:prstGeom prst="rect">
            <a:avLst/>
          </a:prstGeom>
          <a:noFill/>
        </p:spPr>
        <p:txBody>
          <a:bodyPr wrap="none" lIns="0" tIns="0" rIns="0" bIns="0" anchor="t">
            <a:spAutoFit/>
          </a:bodyPr>
          <a:lstStyle/>
          <a:p>
            <a:pPr algn="l">
              <a:lnSpc>
                <a:spcPct val="115000"/>
              </a:lnSpc>
            </a:pPr>
            <a:r>
              <a:rPr sz="4000" b="1">
                <a:solidFill>
                  <a:srgbClr val="212121"/>
                </a:solidFill>
                <a:latin typeface="BIZ UDGothic"/>
                <a:ea typeface="BIZ UDGothic"/>
              </a:rPr>
              <a:t>10. 画面紹介：盤面の見方</a:t>
            </a:r>
          </a:p>
        </p:txBody>
      </p:sp>
      <p:sp>
        <p:nvSpPr>
          <p:cNvPr id="4" name="Rectangle 3"/>
          <p:cNvSpPr/>
          <p:nvPr/>
        </p:nvSpPr>
        <p:spPr>
          <a:xfrm>
            <a:off x="411480" y="1080000"/>
            <a:ext cx="10789920" cy="22860"/>
          </a:xfrm>
          <a:prstGeom prst="rect">
            <a:avLst/>
          </a:prstGeom>
          <a:solidFill>
            <a:srgbClr val="E67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11201400" y="292608"/>
            <a:ext cx="384048" cy="384048"/>
          </a:xfrm>
          <a:prstGeom prst="ellipse">
            <a:avLst/>
          </a:prstGeom>
          <a:solidFill>
            <a:srgbClr val="E67000"/>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800" b="1">
                <a:solidFill>
                  <a:srgbClr val="FFFFFF"/>
                </a:solidFill>
                <a:latin typeface="BIZ UDGothic"/>
                <a:ea typeface="BIZ UDGothic"/>
              </a:rPr>
              <a:t>10</a:t>
            </a:r>
          </a:p>
        </p:txBody>
      </p:sp>
      <p:sp>
        <p:nvSpPr>
          <p:cNvPr id="6" name="Rectangle 5"/>
          <p:cNvSpPr/>
          <p:nvPr/>
        </p:nvSpPr>
        <p:spPr>
          <a:xfrm>
            <a:off x="0" y="6565392"/>
            <a:ext cx="12191695" cy="292608"/>
          </a:xfrm>
          <a:prstGeom prst="rect">
            <a:avLst/>
          </a:prstGeom>
          <a:solidFill>
            <a:srgbClr val="E67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251960" y="6601968"/>
            <a:ext cx="3657600" cy="201168"/>
          </a:xfrm>
          <a:prstGeom prst="rect">
            <a:avLst/>
          </a:prstGeom>
          <a:noFill/>
        </p:spPr>
        <p:txBody>
          <a:bodyPr wrap="none" lIns="0" tIns="0" rIns="0" bIns="0" anchor="t">
            <a:spAutoFit/>
          </a:bodyPr>
          <a:lstStyle/>
          <a:p>
            <a:pPr algn="ctr">
              <a:lnSpc>
                <a:spcPct val="115000"/>
              </a:lnSpc>
            </a:pPr>
            <a:r>
              <a:rPr sz="1200" b="1">
                <a:solidFill>
                  <a:srgbClr val="FFFFFF"/>
                </a:solidFill>
                <a:latin typeface="BIZ UDGothic"/>
                <a:ea typeface="BIZ UDGothic"/>
              </a:rPr>
              <a:t>AI詰将棋トレーナー　発表資料</a:t>
            </a:r>
          </a:p>
        </p:txBody>
      </p:sp>
      <p:sp>
        <p:nvSpPr>
          <p:cNvPr id="8" name="Rounded Rectangle 7"/>
          <p:cNvSpPr/>
          <p:nvPr/>
        </p:nvSpPr>
        <p:spPr>
          <a:xfrm>
            <a:off x="400000" y="1350000"/>
            <a:ext cx="6892000" cy="5050000"/>
          </a:xfrm>
          <a:prstGeom prst="roundRect">
            <a:avLst>
              <a:gd name="adj" fmla="val 6000"/>
            </a:avLst>
          </a:prstGeom>
          <a:solidFill>
            <a:srgbClr val="FFFFFF"/>
          </a:solidFill>
          <a:ln w="19050">
            <a:solidFill>
              <a:srgbClr val="F0AA5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1" name="Picture 8" descr="crop_board.png"/>
          <p:cNvPicPr>
            <a:picLocks noChangeAspect="1"/>
          </p:cNvPicPr>
          <p:nvPr/>
        </p:nvPicPr>
        <p:blipFill>
          <a:blip r:embed="rId3"/>
          <a:stretch>
            <a:fillRect/>
          </a:stretch>
        </p:blipFill>
        <p:spPr>
          <a:xfrm>
            <a:off x="1125914" y="1500000"/>
            <a:ext cx="5440170" cy="4750000"/>
          </a:xfrm>
          <a:prstGeom prst="rect">
            <a:avLst/>
          </a:prstGeom>
        </p:spPr>
      </p:pic>
      <p:sp>
        <p:nvSpPr>
          <p:cNvPr id="10" name="TextBox 9"/>
          <p:cNvSpPr txBox="1"/>
          <p:nvPr/>
        </p:nvSpPr>
        <p:spPr>
          <a:xfrm>
            <a:off x="7592000" y="2800000"/>
            <a:ext cx="4200000" cy="2200000"/>
          </a:xfrm>
          <a:prstGeom prst="rect">
            <a:avLst/>
          </a:prstGeom>
          <a:noFill/>
        </p:spPr>
        <p:txBody>
          <a:bodyPr wrap="square" lIns="0" tIns="0" rIns="0" bIns="0">
            <a:spAutoFit/>
          </a:bodyPr>
          <a:lstStyle/>
          <a:p>
            <a:pPr>
              <a:lnSpc>
                <a:spcPct val="120000"/>
              </a:lnSpc>
              <a:spcAft>
                <a:spcPts val="2200"/>
              </a:spcAft>
            </a:pPr>
            <a:r>
              <a:rPr sz="3200" b="0">
                <a:solidFill>
                  <a:srgbClr val="212121"/>
                </a:solidFill>
                <a:latin typeface="BIZ UDGothic"/>
                <a:ea typeface="BIZ UDGothic"/>
              </a:rPr>
              <a:t>・ 玉と守り駒に注目</a:t>
            </a:r>
          </a:p>
          <a:p>
            <a:pPr>
              <a:lnSpc>
                <a:spcPct val="120000"/>
              </a:lnSpc>
              <a:spcAft>
                <a:spcPts val="2200"/>
              </a:spcAft>
            </a:pPr>
            <a:r>
              <a:rPr sz="3200" b="0">
                <a:solidFill>
                  <a:srgbClr val="212121"/>
                </a:solidFill>
                <a:latin typeface="BIZ UDGothic"/>
                <a:ea typeface="BIZ UDGothic"/>
              </a:rPr>
              <a:t>・ 打つ場所を考える</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8458200" y="164592"/>
            <a:ext cx="2423160" cy="274320"/>
          </a:xfrm>
          <a:prstGeom prst="rect">
            <a:avLst/>
          </a:prstGeom>
          <a:noFill/>
        </p:spPr>
        <p:txBody>
          <a:bodyPr wrap="none" lIns="0" tIns="0" rIns="0" bIns="0" anchor="t">
            <a:spAutoFit/>
          </a:bodyPr>
          <a:lstStyle/>
          <a:p>
            <a:pPr algn="r">
              <a:lnSpc>
                <a:spcPct val="115000"/>
              </a:lnSpc>
            </a:pPr>
            <a:r>
              <a:rPr sz="1400" b="0">
                <a:solidFill>
                  <a:srgbClr val="5C5C5C"/>
                </a:solidFill>
                <a:latin typeface="BIZ UDGothic"/>
                <a:ea typeface="BIZ UDGothic"/>
              </a:rPr>
              <a:t>チーム：ねるねるねるね</a:t>
            </a:r>
          </a:p>
        </p:txBody>
      </p:sp>
      <p:sp>
        <p:nvSpPr>
          <p:cNvPr id="3" name="TextBox 2"/>
          <p:cNvSpPr txBox="1"/>
          <p:nvPr/>
        </p:nvSpPr>
        <p:spPr>
          <a:xfrm>
            <a:off x="411480" y="300000"/>
            <a:ext cx="9500000" cy="560000"/>
          </a:xfrm>
          <a:prstGeom prst="rect">
            <a:avLst/>
          </a:prstGeom>
          <a:noFill/>
        </p:spPr>
        <p:txBody>
          <a:bodyPr wrap="none" lIns="0" tIns="0" rIns="0" bIns="0" anchor="t">
            <a:spAutoFit/>
          </a:bodyPr>
          <a:lstStyle/>
          <a:p>
            <a:pPr algn="l">
              <a:lnSpc>
                <a:spcPct val="115000"/>
              </a:lnSpc>
            </a:pPr>
            <a:r>
              <a:rPr sz="4000" b="1">
                <a:solidFill>
                  <a:srgbClr val="212121"/>
                </a:solidFill>
                <a:latin typeface="BIZ UDGothic"/>
                <a:ea typeface="BIZ UDGothic"/>
              </a:rPr>
              <a:t>11. 画面紹介：ヒント機能</a:t>
            </a:r>
          </a:p>
        </p:txBody>
      </p:sp>
      <p:sp>
        <p:nvSpPr>
          <p:cNvPr id="4" name="Rectangle 3"/>
          <p:cNvSpPr/>
          <p:nvPr/>
        </p:nvSpPr>
        <p:spPr>
          <a:xfrm>
            <a:off x="411480" y="1080000"/>
            <a:ext cx="10789920" cy="22860"/>
          </a:xfrm>
          <a:prstGeom prst="rect">
            <a:avLst/>
          </a:prstGeom>
          <a:solidFill>
            <a:srgbClr val="E67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11201400" y="292608"/>
            <a:ext cx="384048" cy="384048"/>
          </a:xfrm>
          <a:prstGeom prst="ellipse">
            <a:avLst/>
          </a:prstGeom>
          <a:solidFill>
            <a:srgbClr val="E67000"/>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800" b="1">
                <a:solidFill>
                  <a:srgbClr val="FFFFFF"/>
                </a:solidFill>
                <a:latin typeface="BIZ UDGothic"/>
                <a:ea typeface="BIZ UDGothic"/>
              </a:rPr>
              <a:t>11</a:t>
            </a:r>
          </a:p>
        </p:txBody>
      </p:sp>
      <p:sp>
        <p:nvSpPr>
          <p:cNvPr id="6" name="Rectangle 5"/>
          <p:cNvSpPr/>
          <p:nvPr/>
        </p:nvSpPr>
        <p:spPr>
          <a:xfrm>
            <a:off x="0" y="6565392"/>
            <a:ext cx="12191695" cy="292608"/>
          </a:xfrm>
          <a:prstGeom prst="rect">
            <a:avLst/>
          </a:prstGeom>
          <a:solidFill>
            <a:srgbClr val="E67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251960" y="6601968"/>
            <a:ext cx="3657600" cy="201168"/>
          </a:xfrm>
          <a:prstGeom prst="rect">
            <a:avLst/>
          </a:prstGeom>
          <a:noFill/>
        </p:spPr>
        <p:txBody>
          <a:bodyPr wrap="none" lIns="0" tIns="0" rIns="0" bIns="0" anchor="t">
            <a:spAutoFit/>
          </a:bodyPr>
          <a:lstStyle/>
          <a:p>
            <a:pPr algn="ctr">
              <a:lnSpc>
                <a:spcPct val="115000"/>
              </a:lnSpc>
            </a:pPr>
            <a:r>
              <a:rPr sz="1200" b="1">
                <a:solidFill>
                  <a:srgbClr val="FFFFFF"/>
                </a:solidFill>
                <a:latin typeface="BIZ UDGothic"/>
                <a:ea typeface="BIZ UDGothic"/>
              </a:rPr>
              <a:t>AI詰将棋トレーナー　発表資料</a:t>
            </a:r>
          </a:p>
        </p:txBody>
      </p:sp>
      <p:sp>
        <p:nvSpPr>
          <p:cNvPr id="8" name="Rounded Rectangle 7"/>
          <p:cNvSpPr/>
          <p:nvPr/>
        </p:nvSpPr>
        <p:spPr>
          <a:xfrm>
            <a:off x="400000" y="1350000"/>
            <a:ext cx="6892000" cy="5050000"/>
          </a:xfrm>
          <a:prstGeom prst="roundRect">
            <a:avLst>
              <a:gd name="adj" fmla="val 6000"/>
            </a:avLst>
          </a:prstGeom>
          <a:solidFill>
            <a:srgbClr val="FFFFFF"/>
          </a:solidFill>
          <a:ln w="19050">
            <a:solidFill>
              <a:srgbClr val="F0AA5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1" name="Picture 8" descr="crop_hint.png"/>
          <p:cNvPicPr>
            <a:picLocks noChangeAspect="1"/>
          </p:cNvPicPr>
          <p:nvPr/>
        </p:nvPicPr>
        <p:blipFill>
          <a:blip r:embed="rId3"/>
          <a:stretch>
            <a:fillRect/>
          </a:stretch>
        </p:blipFill>
        <p:spPr>
          <a:xfrm>
            <a:off x="550000" y="2617315"/>
            <a:ext cx="6592000" cy="2515368"/>
          </a:xfrm>
          <a:prstGeom prst="rect">
            <a:avLst/>
          </a:prstGeom>
        </p:spPr>
      </p:pic>
      <p:sp>
        <p:nvSpPr>
          <p:cNvPr id="10" name="TextBox 9"/>
          <p:cNvSpPr txBox="1"/>
          <p:nvPr/>
        </p:nvSpPr>
        <p:spPr>
          <a:xfrm>
            <a:off x="7592000" y="2800000"/>
            <a:ext cx="4200000" cy="2200000"/>
          </a:xfrm>
          <a:prstGeom prst="rect">
            <a:avLst/>
          </a:prstGeom>
          <a:noFill/>
        </p:spPr>
        <p:txBody>
          <a:bodyPr wrap="square" lIns="0" tIns="0" rIns="0" bIns="0">
            <a:spAutoFit/>
          </a:bodyPr>
          <a:lstStyle/>
          <a:p>
            <a:pPr>
              <a:lnSpc>
                <a:spcPct val="120000"/>
              </a:lnSpc>
              <a:spcAft>
                <a:spcPts val="2200"/>
              </a:spcAft>
            </a:pPr>
            <a:r>
              <a:rPr sz="3200" b="0">
                <a:solidFill>
                  <a:srgbClr val="212121"/>
                </a:solidFill>
                <a:latin typeface="BIZ UDGothic"/>
                <a:ea typeface="BIZ UDGothic"/>
              </a:rPr>
              <a:t>・ 一手のヒントに</a:t>
            </a:r>
          </a:p>
          <a:p>
            <a:pPr>
              <a:lnSpc>
                <a:spcPct val="120000"/>
              </a:lnSpc>
              <a:spcAft>
                <a:spcPts val="2200"/>
              </a:spcAft>
            </a:pPr>
            <a:r>
              <a:rPr sz="3200" b="0">
                <a:solidFill>
                  <a:srgbClr val="212121"/>
                </a:solidFill>
                <a:latin typeface="BIZ UDGothic"/>
                <a:ea typeface="BIZ UDGothic"/>
              </a:rPr>
              <a:t>・ 止まらず進める</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8458200" y="164592"/>
            <a:ext cx="2423160" cy="274320"/>
          </a:xfrm>
          <a:prstGeom prst="rect">
            <a:avLst/>
          </a:prstGeom>
          <a:noFill/>
        </p:spPr>
        <p:txBody>
          <a:bodyPr wrap="none" lIns="0" tIns="0" rIns="0" bIns="0" anchor="t">
            <a:spAutoFit/>
          </a:bodyPr>
          <a:lstStyle/>
          <a:p>
            <a:pPr algn="r">
              <a:lnSpc>
                <a:spcPct val="115000"/>
              </a:lnSpc>
            </a:pPr>
            <a:r>
              <a:rPr sz="1400" b="0">
                <a:solidFill>
                  <a:srgbClr val="5C5C5C"/>
                </a:solidFill>
                <a:latin typeface="BIZ UDGothic"/>
                <a:ea typeface="BIZ UDGothic"/>
              </a:rPr>
              <a:t>チーム：ねるねるねるね</a:t>
            </a:r>
          </a:p>
        </p:txBody>
      </p:sp>
      <p:sp>
        <p:nvSpPr>
          <p:cNvPr id="3" name="TextBox 2"/>
          <p:cNvSpPr txBox="1"/>
          <p:nvPr/>
        </p:nvSpPr>
        <p:spPr>
          <a:xfrm>
            <a:off x="411480" y="300000"/>
            <a:ext cx="9500000" cy="560000"/>
          </a:xfrm>
          <a:prstGeom prst="rect">
            <a:avLst/>
          </a:prstGeom>
          <a:noFill/>
        </p:spPr>
        <p:txBody>
          <a:bodyPr wrap="none" lIns="0" tIns="0" rIns="0" bIns="0" anchor="t">
            <a:spAutoFit/>
          </a:bodyPr>
          <a:lstStyle/>
          <a:p>
            <a:pPr algn="l">
              <a:lnSpc>
                <a:spcPct val="115000"/>
              </a:lnSpc>
            </a:pPr>
            <a:r>
              <a:rPr sz="4000" b="1">
                <a:solidFill>
                  <a:srgbClr val="212121"/>
                </a:solidFill>
                <a:latin typeface="BIZ UDGothic"/>
                <a:ea typeface="BIZ UDGothic"/>
              </a:rPr>
              <a:t>12. 画面紹介：デイリーチャレンジ</a:t>
            </a:r>
          </a:p>
        </p:txBody>
      </p:sp>
      <p:sp>
        <p:nvSpPr>
          <p:cNvPr id="4" name="Rectangle 3"/>
          <p:cNvSpPr/>
          <p:nvPr/>
        </p:nvSpPr>
        <p:spPr>
          <a:xfrm>
            <a:off x="411480" y="1080000"/>
            <a:ext cx="10789920" cy="22860"/>
          </a:xfrm>
          <a:prstGeom prst="rect">
            <a:avLst/>
          </a:prstGeom>
          <a:solidFill>
            <a:srgbClr val="E67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11201400" y="292608"/>
            <a:ext cx="384048" cy="384048"/>
          </a:xfrm>
          <a:prstGeom prst="ellipse">
            <a:avLst/>
          </a:prstGeom>
          <a:solidFill>
            <a:srgbClr val="E67000"/>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800" b="1">
                <a:solidFill>
                  <a:srgbClr val="FFFFFF"/>
                </a:solidFill>
                <a:latin typeface="BIZ UDGothic"/>
                <a:ea typeface="BIZ UDGothic"/>
              </a:rPr>
              <a:t>12</a:t>
            </a:r>
          </a:p>
        </p:txBody>
      </p:sp>
      <p:sp>
        <p:nvSpPr>
          <p:cNvPr id="6" name="Rectangle 5"/>
          <p:cNvSpPr/>
          <p:nvPr/>
        </p:nvSpPr>
        <p:spPr>
          <a:xfrm>
            <a:off x="0" y="6565392"/>
            <a:ext cx="12191695" cy="292608"/>
          </a:xfrm>
          <a:prstGeom prst="rect">
            <a:avLst/>
          </a:prstGeom>
          <a:solidFill>
            <a:srgbClr val="E67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251960" y="6601968"/>
            <a:ext cx="3657600" cy="201168"/>
          </a:xfrm>
          <a:prstGeom prst="rect">
            <a:avLst/>
          </a:prstGeom>
          <a:noFill/>
        </p:spPr>
        <p:txBody>
          <a:bodyPr wrap="none" lIns="0" tIns="0" rIns="0" bIns="0" anchor="t">
            <a:spAutoFit/>
          </a:bodyPr>
          <a:lstStyle/>
          <a:p>
            <a:pPr algn="ctr">
              <a:lnSpc>
                <a:spcPct val="115000"/>
              </a:lnSpc>
            </a:pPr>
            <a:r>
              <a:rPr sz="1200" b="1">
                <a:solidFill>
                  <a:srgbClr val="FFFFFF"/>
                </a:solidFill>
                <a:latin typeface="BIZ UDGothic"/>
                <a:ea typeface="BIZ UDGothic"/>
              </a:rPr>
              <a:t>AI詰将棋トレーナー　発表資料</a:t>
            </a:r>
          </a:p>
        </p:txBody>
      </p:sp>
      <p:sp>
        <p:nvSpPr>
          <p:cNvPr id="8" name="Rounded Rectangle 7"/>
          <p:cNvSpPr/>
          <p:nvPr/>
        </p:nvSpPr>
        <p:spPr>
          <a:xfrm>
            <a:off x="400000" y="1350000"/>
            <a:ext cx="6892000" cy="5050000"/>
          </a:xfrm>
          <a:prstGeom prst="roundRect">
            <a:avLst>
              <a:gd name="adj" fmla="val 6000"/>
            </a:avLst>
          </a:prstGeom>
          <a:solidFill>
            <a:srgbClr val="FFFFFF"/>
          </a:solidFill>
          <a:ln w="19050">
            <a:solidFill>
              <a:srgbClr val="F0AA5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1" name="Picture 8" descr="crop_daily.png"/>
          <p:cNvPicPr>
            <a:picLocks noChangeAspect="1"/>
          </p:cNvPicPr>
          <p:nvPr/>
        </p:nvPicPr>
        <p:blipFill>
          <a:blip r:embed="rId3"/>
          <a:stretch>
            <a:fillRect/>
          </a:stretch>
        </p:blipFill>
        <p:spPr>
          <a:xfrm>
            <a:off x="550000" y="1792111"/>
            <a:ext cx="6592000" cy="4165777"/>
          </a:xfrm>
          <a:prstGeom prst="rect">
            <a:avLst/>
          </a:prstGeom>
        </p:spPr>
      </p:pic>
      <p:sp>
        <p:nvSpPr>
          <p:cNvPr id="10" name="TextBox 9"/>
          <p:cNvSpPr txBox="1"/>
          <p:nvPr/>
        </p:nvSpPr>
        <p:spPr>
          <a:xfrm>
            <a:off x="7592000" y="2800000"/>
            <a:ext cx="4200000" cy="2200000"/>
          </a:xfrm>
          <a:prstGeom prst="rect">
            <a:avLst/>
          </a:prstGeom>
          <a:noFill/>
        </p:spPr>
        <p:txBody>
          <a:bodyPr wrap="square" lIns="0" tIns="0" rIns="0" bIns="0">
            <a:spAutoFit/>
          </a:bodyPr>
          <a:lstStyle/>
          <a:p>
            <a:pPr>
              <a:lnSpc>
                <a:spcPct val="120000"/>
              </a:lnSpc>
              <a:spcAft>
                <a:spcPts val="2200"/>
              </a:spcAft>
            </a:pPr>
            <a:r>
              <a:rPr sz="3200" b="0">
                <a:solidFill>
                  <a:srgbClr val="212121"/>
                </a:solidFill>
                <a:latin typeface="BIZ UDGothic"/>
                <a:ea typeface="BIZ UDGothic"/>
              </a:rPr>
              <a:t>・ 毎日新しい1問</a:t>
            </a:r>
          </a:p>
          <a:p>
            <a:pPr>
              <a:lnSpc>
                <a:spcPct val="120000"/>
              </a:lnSpc>
              <a:spcAft>
                <a:spcPts val="2200"/>
              </a:spcAft>
            </a:pPr>
            <a:r>
              <a:rPr sz="3200" b="0">
                <a:solidFill>
                  <a:srgbClr val="212121"/>
                </a:solidFill>
                <a:latin typeface="BIZ UDGothic"/>
                <a:ea typeface="BIZ UDGothic"/>
              </a:rPr>
              <a:t>・ 続けやすい設計</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8458200" y="164592"/>
            <a:ext cx="2423160" cy="274320"/>
          </a:xfrm>
          <a:prstGeom prst="rect">
            <a:avLst/>
          </a:prstGeom>
          <a:noFill/>
        </p:spPr>
        <p:txBody>
          <a:bodyPr wrap="none" lIns="0" tIns="0" rIns="0" bIns="0" anchor="t">
            <a:spAutoFit/>
          </a:bodyPr>
          <a:lstStyle/>
          <a:p>
            <a:pPr algn="r">
              <a:lnSpc>
                <a:spcPct val="115000"/>
              </a:lnSpc>
            </a:pPr>
            <a:r>
              <a:rPr sz="1400" b="0">
                <a:solidFill>
                  <a:srgbClr val="5C5C5C"/>
                </a:solidFill>
                <a:latin typeface="BIZ UDGothic"/>
                <a:ea typeface="BIZ UDGothic"/>
              </a:rPr>
              <a:t>チーム：ねるねるねるね</a:t>
            </a:r>
          </a:p>
        </p:txBody>
      </p:sp>
      <p:sp>
        <p:nvSpPr>
          <p:cNvPr id="3" name="TextBox 2"/>
          <p:cNvSpPr txBox="1"/>
          <p:nvPr/>
        </p:nvSpPr>
        <p:spPr>
          <a:xfrm>
            <a:off x="411480" y="300000"/>
            <a:ext cx="9500000" cy="560000"/>
          </a:xfrm>
          <a:prstGeom prst="rect">
            <a:avLst/>
          </a:prstGeom>
          <a:noFill/>
        </p:spPr>
        <p:txBody>
          <a:bodyPr wrap="none" lIns="0" tIns="0" rIns="0" bIns="0" anchor="t">
            <a:spAutoFit/>
          </a:bodyPr>
          <a:lstStyle/>
          <a:p>
            <a:pPr algn="l">
              <a:lnSpc>
                <a:spcPct val="115000"/>
              </a:lnSpc>
            </a:pPr>
            <a:r>
              <a:rPr sz="4000" b="1">
                <a:solidFill>
                  <a:srgbClr val="212121"/>
                </a:solidFill>
                <a:latin typeface="BIZ UDGothic"/>
                <a:ea typeface="BIZ UDGothic"/>
              </a:rPr>
              <a:t>13. 画面紹介：結果・ランキング</a:t>
            </a:r>
          </a:p>
        </p:txBody>
      </p:sp>
      <p:sp>
        <p:nvSpPr>
          <p:cNvPr id="4" name="Rectangle 3"/>
          <p:cNvSpPr/>
          <p:nvPr/>
        </p:nvSpPr>
        <p:spPr>
          <a:xfrm>
            <a:off x="411480" y="1080000"/>
            <a:ext cx="10789920" cy="22860"/>
          </a:xfrm>
          <a:prstGeom prst="rect">
            <a:avLst/>
          </a:prstGeom>
          <a:solidFill>
            <a:srgbClr val="E67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11201400" y="292608"/>
            <a:ext cx="384048" cy="384048"/>
          </a:xfrm>
          <a:prstGeom prst="ellipse">
            <a:avLst/>
          </a:prstGeom>
          <a:solidFill>
            <a:srgbClr val="E67000"/>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800" b="1">
                <a:solidFill>
                  <a:srgbClr val="FFFFFF"/>
                </a:solidFill>
                <a:latin typeface="BIZ UDGothic"/>
                <a:ea typeface="BIZ UDGothic"/>
              </a:rPr>
              <a:t>13</a:t>
            </a:r>
          </a:p>
        </p:txBody>
      </p:sp>
      <p:sp>
        <p:nvSpPr>
          <p:cNvPr id="6" name="Rectangle 5"/>
          <p:cNvSpPr/>
          <p:nvPr/>
        </p:nvSpPr>
        <p:spPr>
          <a:xfrm>
            <a:off x="0" y="6565392"/>
            <a:ext cx="12191695" cy="292608"/>
          </a:xfrm>
          <a:prstGeom prst="rect">
            <a:avLst/>
          </a:prstGeom>
          <a:solidFill>
            <a:srgbClr val="E67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251960" y="6601968"/>
            <a:ext cx="3657600" cy="201168"/>
          </a:xfrm>
          <a:prstGeom prst="rect">
            <a:avLst/>
          </a:prstGeom>
          <a:noFill/>
        </p:spPr>
        <p:txBody>
          <a:bodyPr wrap="none" lIns="0" tIns="0" rIns="0" bIns="0" anchor="t">
            <a:spAutoFit/>
          </a:bodyPr>
          <a:lstStyle/>
          <a:p>
            <a:pPr algn="ctr">
              <a:lnSpc>
                <a:spcPct val="115000"/>
              </a:lnSpc>
            </a:pPr>
            <a:r>
              <a:rPr sz="1200" b="1">
                <a:solidFill>
                  <a:srgbClr val="FFFFFF"/>
                </a:solidFill>
                <a:latin typeface="BIZ UDGothic"/>
                <a:ea typeface="BIZ UDGothic"/>
              </a:rPr>
              <a:t>AI詰将棋トレーナー　発表資料</a:t>
            </a:r>
          </a:p>
        </p:txBody>
      </p:sp>
      <p:sp>
        <p:nvSpPr>
          <p:cNvPr id="8" name="Rounded Rectangle 7"/>
          <p:cNvSpPr/>
          <p:nvPr/>
        </p:nvSpPr>
        <p:spPr>
          <a:xfrm>
            <a:off x="400000" y="1350000"/>
            <a:ext cx="6892000" cy="5050000"/>
          </a:xfrm>
          <a:prstGeom prst="roundRect">
            <a:avLst>
              <a:gd name="adj" fmla="val 6000"/>
            </a:avLst>
          </a:prstGeom>
          <a:solidFill>
            <a:srgbClr val="FFFFFF"/>
          </a:solidFill>
          <a:ln w="19050">
            <a:solidFill>
              <a:srgbClr val="F0AA5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1" name="Picture 8" descr="crop_result3.png"/>
          <p:cNvPicPr>
            <a:picLocks noChangeAspect="1"/>
          </p:cNvPicPr>
          <p:nvPr/>
        </p:nvPicPr>
        <p:blipFill>
          <a:blip r:embed="rId3"/>
          <a:stretch>
            <a:fillRect/>
          </a:stretch>
        </p:blipFill>
        <p:spPr>
          <a:xfrm>
            <a:off x="1322562" y="1500000"/>
            <a:ext cx="5046875" cy="4750000"/>
          </a:xfrm>
          <a:prstGeom prst="rect">
            <a:avLst/>
          </a:prstGeom>
        </p:spPr>
      </p:pic>
      <p:sp>
        <p:nvSpPr>
          <p:cNvPr id="10" name="TextBox 9"/>
          <p:cNvSpPr txBox="1"/>
          <p:nvPr/>
        </p:nvSpPr>
        <p:spPr>
          <a:xfrm>
            <a:off x="7592000" y="2800000"/>
            <a:ext cx="4200000" cy="2200000"/>
          </a:xfrm>
          <a:prstGeom prst="rect">
            <a:avLst/>
          </a:prstGeom>
          <a:noFill/>
        </p:spPr>
        <p:txBody>
          <a:bodyPr wrap="square" lIns="0" tIns="0" rIns="0" bIns="0">
            <a:spAutoFit/>
          </a:bodyPr>
          <a:lstStyle/>
          <a:p>
            <a:pPr>
              <a:lnSpc>
                <a:spcPct val="120000"/>
              </a:lnSpc>
              <a:spcAft>
                <a:spcPts val="2200"/>
              </a:spcAft>
            </a:pPr>
            <a:r>
              <a:rPr sz="3200" b="0">
                <a:solidFill>
                  <a:srgbClr val="212121"/>
                </a:solidFill>
                <a:latin typeface="BIZ UDGothic"/>
                <a:ea typeface="BIZ UDGothic"/>
              </a:rPr>
              <a:t>・ スコア・正答率</a:t>
            </a:r>
          </a:p>
          <a:p>
            <a:pPr>
              <a:lnSpc>
                <a:spcPct val="120000"/>
              </a:lnSpc>
              <a:spcAft>
                <a:spcPts val="2200"/>
              </a:spcAft>
            </a:pPr>
            <a:r>
              <a:rPr sz="3200" b="0">
                <a:solidFill>
                  <a:srgbClr val="212121"/>
                </a:solidFill>
                <a:latin typeface="BIZ UDGothic"/>
                <a:ea typeface="BIZ UDGothic"/>
              </a:rPr>
              <a:t>・ 続けたくなる結果</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8458200" y="164592"/>
            <a:ext cx="2423160" cy="274320"/>
          </a:xfrm>
          <a:prstGeom prst="rect">
            <a:avLst/>
          </a:prstGeom>
          <a:noFill/>
        </p:spPr>
        <p:txBody>
          <a:bodyPr wrap="none" lIns="0" tIns="0" rIns="0" bIns="0" anchor="t">
            <a:spAutoFit/>
          </a:bodyPr>
          <a:lstStyle/>
          <a:p>
            <a:pPr algn="r">
              <a:lnSpc>
                <a:spcPct val="115000"/>
              </a:lnSpc>
            </a:pPr>
            <a:r>
              <a:rPr sz="1400" b="0">
                <a:solidFill>
                  <a:srgbClr val="5C5C5C"/>
                </a:solidFill>
                <a:latin typeface="BIZ UDGothic"/>
                <a:ea typeface="BIZ UDGothic"/>
              </a:rPr>
              <a:t>チーム：ねるねるねるね</a:t>
            </a:r>
          </a:p>
        </p:txBody>
      </p:sp>
      <p:sp>
        <p:nvSpPr>
          <p:cNvPr id="3" name="TextBox 2"/>
          <p:cNvSpPr txBox="1"/>
          <p:nvPr/>
        </p:nvSpPr>
        <p:spPr>
          <a:xfrm>
            <a:off x="411480" y="300000"/>
            <a:ext cx="9500000" cy="560000"/>
          </a:xfrm>
          <a:prstGeom prst="rect">
            <a:avLst/>
          </a:prstGeom>
          <a:noFill/>
        </p:spPr>
        <p:txBody>
          <a:bodyPr wrap="none" lIns="0" tIns="0" rIns="0" bIns="0" anchor="t">
            <a:spAutoFit/>
          </a:bodyPr>
          <a:lstStyle/>
          <a:p>
            <a:pPr algn="l">
              <a:lnSpc>
                <a:spcPct val="115000"/>
              </a:lnSpc>
            </a:pPr>
            <a:r>
              <a:rPr sz="4000" b="1">
                <a:solidFill>
                  <a:srgbClr val="212121"/>
                </a:solidFill>
                <a:latin typeface="BIZ UDGothic"/>
                <a:ea typeface="BIZ UDGothic"/>
              </a:rPr>
              <a:t>14. 工夫した点</a:t>
            </a:r>
          </a:p>
        </p:txBody>
      </p:sp>
      <p:sp>
        <p:nvSpPr>
          <p:cNvPr id="4" name="Rectangle 3"/>
          <p:cNvSpPr/>
          <p:nvPr/>
        </p:nvSpPr>
        <p:spPr>
          <a:xfrm>
            <a:off x="411480" y="1080000"/>
            <a:ext cx="10789920" cy="22860"/>
          </a:xfrm>
          <a:prstGeom prst="rect">
            <a:avLst/>
          </a:prstGeom>
          <a:solidFill>
            <a:srgbClr val="E67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11201400" y="292608"/>
            <a:ext cx="384048" cy="384048"/>
          </a:xfrm>
          <a:prstGeom prst="ellipse">
            <a:avLst/>
          </a:prstGeom>
          <a:solidFill>
            <a:srgbClr val="E67000"/>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800" b="1">
                <a:solidFill>
                  <a:srgbClr val="FFFFFF"/>
                </a:solidFill>
                <a:latin typeface="BIZ UDGothic"/>
                <a:ea typeface="BIZ UDGothic"/>
              </a:rPr>
              <a:t>14</a:t>
            </a:r>
          </a:p>
        </p:txBody>
      </p:sp>
      <p:sp>
        <p:nvSpPr>
          <p:cNvPr id="6" name="Rectangle 5"/>
          <p:cNvSpPr/>
          <p:nvPr/>
        </p:nvSpPr>
        <p:spPr>
          <a:xfrm>
            <a:off x="0" y="6565392"/>
            <a:ext cx="12191695" cy="292608"/>
          </a:xfrm>
          <a:prstGeom prst="rect">
            <a:avLst/>
          </a:prstGeom>
          <a:solidFill>
            <a:srgbClr val="E67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251960" y="6601968"/>
            <a:ext cx="3657600" cy="201168"/>
          </a:xfrm>
          <a:prstGeom prst="rect">
            <a:avLst/>
          </a:prstGeom>
          <a:noFill/>
        </p:spPr>
        <p:txBody>
          <a:bodyPr wrap="none" lIns="0" tIns="0" rIns="0" bIns="0" anchor="t">
            <a:spAutoFit/>
          </a:bodyPr>
          <a:lstStyle/>
          <a:p>
            <a:pPr algn="ctr">
              <a:lnSpc>
                <a:spcPct val="115000"/>
              </a:lnSpc>
            </a:pPr>
            <a:r>
              <a:rPr sz="1200" b="1">
                <a:solidFill>
                  <a:srgbClr val="FFFFFF"/>
                </a:solidFill>
                <a:latin typeface="BIZ UDGothic"/>
                <a:ea typeface="BIZ UDGothic"/>
              </a:rPr>
              <a:t>AI詰将棋トレーナー　発表資料</a:t>
            </a:r>
          </a:p>
        </p:txBody>
      </p:sp>
      <p:sp>
        <p:nvSpPr>
          <p:cNvPr id="8" name="Rounded Rectangle 7"/>
          <p:cNvSpPr/>
          <p:nvPr/>
        </p:nvSpPr>
        <p:spPr>
          <a:xfrm>
            <a:off x="700000" y="1600000"/>
            <a:ext cx="3450000" cy="1800000"/>
          </a:xfrm>
          <a:prstGeom prst="roundRect">
            <a:avLst/>
          </a:prstGeom>
          <a:solidFill>
            <a:srgbClr val="FDECD8"/>
          </a:solidFill>
          <a:ln w="19050">
            <a:solidFill>
              <a:srgbClr val="E6700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3000" b="1">
                <a:solidFill>
                  <a:srgbClr val="212121"/>
                </a:solidFill>
                <a:latin typeface="BIZ UDGothic"/>
                <a:ea typeface="BIZ UDGothic"/>
              </a:rPr>
              <a:t>見やすさ</a:t>
            </a:r>
          </a:p>
          <a:p>
            <a:pPr algn="ctr"/>
            <a:r>
              <a:rPr sz="2400" b="0">
                <a:solidFill>
                  <a:srgbClr val="5C5C5C"/>
                </a:solidFill>
                <a:latin typeface="BIZ UDGothic"/>
                <a:ea typeface="BIZ UDGothic"/>
              </a:rPr>
              <a:t>画面を大きく表示</a:t>
            </a:r>
          </a:p>
        </p:txBody>
      </p:sp>
      <p:sp>
        <p:nvSpPr>
          <p:cNvPr id="9" name="Rounded Rectangle 8"/>
          <p:cNvSpPr/>
          <p:nvPr/>
        </p:nvSpPr>
        <p:spPr>
          <a:xfrm>
            <a:off x="4500000" y="1600000"/>
            <a:ext cx="3450000" cy="1800000"/>
          </a:xfrm>
          <a:prstGeom prst="roundRect">
            <a:avLst/>
          </a:prstGeom>
          <a:solidFill>
            <a:srgbClr val="FDECD8"/>
          </a:solidFill>
          <a:ln w="19050">
            <a:solidFill>
              <a:srgbClr val="E6700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3000" b="1">
                <a:solidFill>
                  <a:srgbClr val="212121"/>
                </a:solidFill>
                <a:latin typeface="BIZ UDGothic"/>
                <a:ea typeface="BIZ UDGothic"/>
              </a:rPr>
              <a:t>続けやすさ</a:t>
            </a:r>
          </a:p>
          <a:p>
            <a:pPr algn="ctr"/>
            <a:r>
              <a:rPr sz="2400" b="0">
                <a:solidFill>
                  <a:srgbClr val="5C5C5C"/>
                </a:solidFill>
                <a:latin typeface="BIZ UDGothic"/>
                <a:ea typeface="BIZ UDGothic"/>
              </a:rPr>
              <a:t>毎日挑戦・ランキング</a:t>
            </a:r>
          </a:p>
        </p:txBody>
      </p:sp>
      <p:sp>
        <p:nvSpPr>
          <p:cNvPr id="10" name="Rounded Rectangle 9"/>
          <p:cNvSpPr/>
          <p:nvPr/>
        </p:nvSpPr>
        <p:spPr>
          <a:xfrm>
            <a:off x="8300000" y="1600000"/>
            <a:ext cx="3450000" cy="1800000"/>
          </a:xfrm>
          <a:prstGeom prst="roundRect">
            <a:avLst/>
          </a:prstGeom>
          <a:solidFill>
            <a:srgbClr val="FDECD8"/>
          </a:solidFill>
          <a:ln w="19050">
            <a:solidFill>
              <a:srgbClr val="E67000"/>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3000" b="1">
                <a:solidFill>
                  <a:srgbClr val="212121"/>
                </a:solidFill>
                <a:latin typeface="BIZ UDGothic"/>
                <a:ea typeface="BIZ UDGothic"/>
              </a:rPr>
              <a:t>正確さ</a:t>
            </a:r>
          </a:p>
          <a:p>
            <a:pPr algn="ctr"/>
            <a:r>
              <a:rPr sz="2400" b="0">
                <a:solidFill>
                  <a:srgbClr val="5C5C5C"/>
                </a:solidFill>
                <a:latin typeface="BIZ UDGothic"/>
                <a:ea typeface="BIZ UDGothic"/>
              </a:rPr>
              <a:t>正誤判定を重視</a:t>
            </a:r>
          </a:p>
        </p:txBody>
      </p:sp>
      <p:sp>
        <p:nvSpPr>
          <p:cNvPr id="11" name="TextBox 10"/>
          <p:cNvSpPr txBox="1"/>
          <p:nvPr/>
        </p:nvSpPr>
        <p:spPr>
          <a:xfrm>
            <a:off x="700000" y="3900000"/>
            <a:ext cx="10800000" cy="700000"/>
          </a:xfrm>
          <a:prstGeom prst="rect">
            <a:avLst/>
          </a:prstGeom>
          <a:noFill/>
        </p:spPr>
        <p:txBody>
          <a:bodyPr wrap="none" lIns="0" tIns="0" rIns="0" bIns="0" anchor="t">
            <a:spAutoFit/>
          </a:bodyPr>
          <a:lstStyle/>
          <a:p>
            <a:pPr algn="ctr">
              <a:lnSpc>
                <a:spcPct val="115000"/>
              </a:lnSpc>
            </a:pPr>
            <a:r>
              <a:rPr sz="3200" b="1">
                <a:solidFill>
                  <a:srgbClr val="212121"/>
                </a:solidFill>
                <a:latin typeface="BIZ UDGothic"/>
                <a:ea typeface="BIZ UDGothic"/>
              </a:rPr>
              <a:t>初心者でも「分かる・続けられる」を意識</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8458200" y="164592"/>
            <a:ext cx="2423160" cy="274320"/>
          </a:xfrm>
          <a:prstGeom prst="rect">
            <a:avLst/>
          </a:prstGeom>
          <a:noFill/>
        </p:spPr>
        <p:txBody>
          <a:bodyPr wrap="none" lIns="0" tIns="0" rIns="0" bIns="0" anchor="t">
            <a:spAutoFit/>
          </a:bodyPr>
          <a:lstStyle/>
          <a:p>
            <a:pPr algn="r">
              <a:lnSpc>
                <a:spcPct val="115000"/>
              </a:lnSpc>
            </a:pPr>
            <a:r>
              <a:rPr sz="1400" b="0">
                <a:solidFill>
                  <a:srgbClr val="5C5C5C"/>
                </a:solidFill>
                <a:latin typeface="BIZ UDGothic"/>
                <a:ea typeface="BIZ UDGothic"/>
              </a:rPr>
              <a:t>チーム：ねるねるねるね</a:t>
            </a:r>
          </a:p>
        </p:txBody>
      </p:sp>
      <p:sp>
        <p:nvSpPr>
          <p:cNvPr id="3" name="TextBox 2"/>
          <p:cNvSpPr txBox="1"/>
          <p:nvPr/>
        </p:nvSpPr>
        <p:spPr>
          <a:xfrm>
            <a:off x="411480" y="300000"/>
            <a:ext cx="9500000" cy="560000"/>
          </a:xfrm>
          <a:prstGeom prst="rect">
            <a:avLst/>
          </a:prstGeom>
          <a:noFill/>
        </p:spPr>
        <p:txBody>
          <a:bodyPr wrap="none" lIns="0" tIns="0" rIns="0" bIns="0" anchor="t">
            <a:spAutoFit/>
          </a:bodyPr>
          <a:lstStyle/>
          <a:p>
            <a:pPr algn="l">
              <a:lnSpc>
                <a:spcPct val="115000"/>
              </a:lnSpc>
            </a:pPr>
            <a:r>
              <a:rPr sz="4000" b="1">
                <a:solidFill>
                  <a:srgbClr val="212121"/>
                </a:solidFill>
                <a:latin typeface="BIZ UDGothic"/>
                <a:ea typeface="BIZ UDGothic"/>
              </a:rPr>
              <a:t>15. 苦労した点</a:t>
            </a:r>
          </a:p>
        </p:txBody>
      </p:sp>
      <p:sp>
        <p:nvSpPr>
          <p:cNvPr id="4" name="Rectangle 3"/>
          <p:cNvSpPr/>
          <p:nvPr/>
        </p:nvSpPr>
        <p:spPr>
          <a:xfrm>
            <a:off x="411480" y="1080000"/>
            <a:ext cx="10789920" cy="22860"/>
          </a:xfrm>
          <a:prstGeom prst="rect">
            <a:avLst/>
          </a:prstGeom>
          <a:solidFill>
            <a:srgbClr val="E67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11201400" y="292608"/>
            <a:ext cx="384048" cy="384048"/>
          </a:xfrm>
          <a:prstGeom prst="ellipse">
            <a:avLst/>
          </a:prstGeom>
          <a:solidFill>
            <a:srgbClr val="E67000"/>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800" b="1">
                <a:solidFill>
                  <a:srgbClr val="FFFFFF"/>
                </a:solidFill>
                <a:latin typeface="BIZ UDGothic"/>
                <a:ea typeface="BIZ UDGothic"/>
              </a:rPr>
              <a:t>15</a:t>
            </a:r>
          </a:p>
        </p:txBody>
      </p:sp>
      <p:sp>
        <p:nvSpPr>
          <p:cNvPr id="6" name="Rectangle 5"/>
          <p:cNvSpPr/>
          <p:nvPr/>
        </p:nvSpPr>
        <p:spPr>
          <a:xfrm>
            <a:off x="0" y="6565392"/>
            <a:ext cx="12191695" cy="292608"/>
          </a:xfrm>
          <a:prstGeom prst="rect">
            <a:avLst/>
          </a:prstGeom>
          <a:solidFill>
            <a:srgbClr val="E67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251960" y="6601968"/>
            <a:ext cx="3657600" cy="201168"/>
          </a:xfrm>
          <a:prstGeom prst="rect">
            <a:avLst/>
          </a:prstGeom>
          <a:noFill/>
        </p:spPr>
        <p:txBody>
          <a:bodyPr wrap="none" lIns="0" tIns="0" rIns="0" bIns="0" anchor="t">
            <a:spAutoFit/>
          </a:bodyPr>
          <a:lstStyle/>
          <a:p>
            <a:pPr algn="ctr">
              <a:lnSpc>
                <a:spcPct val="115000"/>
              </a:lnSpc>
            </a:pPr>
            <a:r>
              <a:rPr sz="1200" b="1">
                <a:solidFill>
                  <a:srgbClr val="FFFFFF"/>
                </a:solidFill>
                <a:latin typeface="BIZ UDGothic"/>
                <a:ea typeface="BIZ UDGothic"/>
              </a:rPr>
              <a:t>AI詰将棋トレーナー　発表資料</a:t>
            </a:r>
          </a:p>
        </p:txBody>
      </p:sp>
      <p:sp>
        <p:nvSpPr>
          <p:cNvPr id="8" name="TextBox 7"/>
          <p:cNvSpPr txBox="1"/>
          <p:nvPr/>
        </p:nvSpPr>
        <p:spPr>
          <a:xfrm>
            <a:off x="900000" y="1500000"/>
            <a:ext cx="10400000" cy="4600000"/>
          </a:xfrm>
          <a:prstGeom prst="rect">
            <a:avLst/>
          </a:prstGeom>
          <a:noFill/>
        </p:spPr>
        <p:txBody>
          <a:bodyPr wrap="square" lIns="0" tIns="0" rIns="0" bIns="0">
            <a:spAutoFit/>
          </a:bodyPr>
          <a:lstStyle/>
          <a:p>
            <a:pPr>
              <a:lnSpc>
                <a:spcPct val="120000"/>
              </a:lnSpc>
              <a:spcAft>
                <a:spcPts val="2400"/>
              </a:spcAft>
            </a:pPr>
            <a:r>
              <a:rPr sz="3200" b="0">
                <a:solidFill>
                  <a:srgbClr val="212121"/>
                </a:solidFill>
                <a:latin typeface="BIZ UDGothic"/>
                <a:ea typeface="BIZ UDGothic"/>
              </a:rPr>
              <a:t>・ APIキーの新旧形式を誤認し接続エラー</a:t>
            </a:r>
          </a:p>
          <a:p>
            <a:pPr>
              <a:lnSpc>
                <a:spcPct val="120000"/>
              </a:lnSpc>
              <a:spcAft>
                <a:spcPts val="2400"/>
              </a:spcAft>
            </a:pPr>
            <a:r>
              <a:rPr sz="3200" b="0">
                <a:solidFill>
                  <a:srgbClr val="212121"/>
                </a:solidFill>
                <a:latin typeface="BIZ UDGothic"/>
                <a:ea typeface="BIZ UDGothic"/>
              </a:rPr>
              <a:t>・ 環境変数はキャッシュ削除の再デプロイが必要</a:t>
            </a:r>
          </a:p>
          <a:p>
            <a:pPr>
              <a:lnSpc>
                <a:spcPct val="120000"/>
              </a:lnSpc>
              <a:spcAft>
                <a:spcPts val="2400"/>
              </a:spcAft>
            </a:pPr>
            <a:r>
              <a:rPr sz="3200" b="0">
                <a:solidFill>
                  <a:srgbClr val="212121"/>
                </a:solidFill>
                <a:latin typeface="BIZ UDGothic"/>
                <a:ea typeface="BIZ UDGothic"/>
              </a:rPr>
              <a:t>・ 余詰めチェックのバグを発見・修正</a:t>
            </a:r>
          </a:p>
          <a:p>
            <a:pPr>
              <a:lnSpc>
                <a:spcPct val="120000"/>
              </a:lnSpc>
              <a:spcAft>
                <a:spcPts val="2400"/>
              </a:spcAft>
            </a:pPr>
            <a:r>
              <a:rPr sz="3200" b="0">
                <a:solidFill>
                  <a:srgbClr val="212121"/>
                </a:solidFill>
                <a:latin typeface="BIZ UDGothic"/>
                <a:ea typeface="BIZ UDGothic"/>
              </a:rPr>
              <a:t>・ 1手詰めが「頭金」に偏る問題を是正</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8458200" y="164592"/>
            <a:ext cx="2423160" cy="274320"/>
          </a:xfrm>
          <a:prstGeom prst="rect">
            <a:avLst/>
          </a:prstGeom>
          <a:noFill/>
        </p:spPr>
        <p:txBody>
          <a:bodyPr wrap="none" lIns="0" tIns="0" rIns="0" bIns="0" anchor="t">
            <a:spAutoFit/>
          </a:bodyPr>
          <a:lstStyle/>
          <a:p>
            <a:pPr algn="r">
              <a:lnSpc>
                <a:spcPct val="115000"/>
              </a:lnSpc>
            </a:pPr>
            <a:r>
              <a:rPr sz="1400" b="0">
                <a:solidFill>
                  <a:srgbClr val="5C5C5C"/>
                </a:solidFill>
                <a:latin typeface="BIZ UDGothic"/>
                <a:ea typeface="BIZ UDGothic"/>
              </a:rPr>
              <a:t>チーム：ねるねるねるね</a:t>
            </a:r>
          </a:p>
        </p:txBody>
      </p:sp>
      <p:sp>
        <p:nvSpPr>
          <p:cNvPr id="3" name="TextBox 2"/>
          <p:cNvSpPr txBox="1"/>
          <p:nvPr/>
        </p:nvSpPr>
        <p:spPr>
          <a:xfrm>
            <a:off x="411480" y="300000"/>
            <a:ext cx="9500000" cy="560000"/>
          </a:xfrm>
          <a:prstGeom prst="rect">
            <a:avLst/>
          </a:prstGeom>
          <a:noFill/>
        </p:spPr>
        <p:txBody>
          <a:bodyPr wrap="none" lIns="0" tIns="0" rIns="0" bIns="0" anchor="t">
            <a:spAutoFit/>
          </a:bodyPr>
          <a:lstStyle/>
          <a:p>
            <a:pPr algn="l">
              <a:lnSpc>
                <a:spcPct val="115000"/>
              </a:lnSpc>
            </a:pPr>
            <a:r>
              <a:rPr sz="4000" b="1">
                <a:solidFill>
                  <a:srgbClr val="212121"/>
                </a:solidFill>
                <a:latin typeface="BIZ UDGothic"/>
                <a:ea typeface="BIZ UDGothic"/>
              </a:rPr>
              <a:t>16. アピールポイント</a:t>
            </a:r>
          </a:p>
        </p:txBody>
      </p:sp>
      <p:sp>
        <p:nvSpPr>
          <p:cNvPr id="4" name="Rectangle 3"/>
          <p:cNvSpPr/>
          <p:nvPr/>
        </p:nvSpPr>
        <p:spPr>
          <a:xfrm>
            <a:off x="411480" y="1080000"/>
            <a:ext cx="10789920" cy="22860"/>
          </a:xfrm>
          <a:prstGeom prst="rect">
            <a:avLst/>
          </a:prstGeom>
          <a:solidFill>
            <a:srgbClr val="E67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11201400" y="292608"/>
            <a:ext cx="384048" cy="384048"/>
          </a:xfrm>
          <a:prstGeom prst="ellipse">
            <a:avLst/>
          </a:prstGeom>
          <a:solidFill>
            <a:srgbClr val="E67000"/>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800" b="1">
                <a:solidFill>
                  <a:srgbClr val="FFFFFF"/>
                </a:solidFill>
                <a:latin typeface="BIZ UDGothic"/>
                <a:ea typeface="BIZ UDGothic"/>
              </a:rPr>
              <a:t>16</a:t>
            </a:r>
          </a:p>
        </p:txBody>
      </p:sp>
      <p:sp>
        <p:nvSpPr>
          <p:cNvPr id="6" name="Rectangle 5"/>
          <p:cNvSpPr/>
          <p:nvPr/>
        </p:nvSpPr>
        <p:spPr>
          <a:xfrm>
            <a:off x="0" y="6565392"/>
            <a:ext cx="12191695" cy="292608"/>
          </a:xfrm>
          <a:prstGeom prst="rect">
            <a:avLst/>
          </a:prstGeom>
          <a:solidFill>
            <a:srgbClr val="E67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251960" y="6601968"/>
            <a:ext cx="3657600" cy="201168"/>
          </a:xfrm>
          <a:prstGeom prst="rect">
            <a:avLst/>
          </a:prstGeom>
          <a:noFill/>
        </p:spPr>
        <p:txBody>
          <a:bodyPr wrap="none" lIns="0" tIns="0" rIns="0" bIns="0" anchor="t">
            <a:spAutoFit/>
          </a:bodyPr>
          <a:lstStyle/>
          <a:p>
            <a:pPr algn="ctr">
              <a:lnSpc>
                <a:spcPct val="115000"/>
              </a:lnSpc>
            </a:pPr>
            <a:r>
              <a:rPr sz="1200" b="1">
                <a:solidFill>
                  <a:srgbClr val="FFFFFF"/>
                </a:solidFill>
                <a:latin typeface="BIZ UDGothic"/>
                <a:ea typeface="BIZ UDGothic"/>
              </a:rPr>
              <a:t>AI詰将棋トレーナー　発表資料</a:t>
            </a:r>
          </a:p>
        </p:txBody>
      </p:sp>
      <p:sp>
        <p:nvSpPr>
          <p:cNvPr id="8" name="TextBox 7"/>
          <p:cNvSpPr txBox="1"/>
          <p:nvPr/>
        </p:nvSpPr>
        <p:spPr>
          <a:xfrm>
            <a:off x="900000" y="1500000"/>
            <a:ext cx="10400000" cy="4700000"/>
          </a:xfrm>
          <a:prstGeom prst="rect">
            <a:avLst/>
          </a:prstGeom>
          <a:noFill/>
        </p:spPr>
        <p:txBody>
          <a:bodyPr wrap="square" lIns="0" tIns="0" rIns="0" bIns="0">
            <a:spAutoFit/>
          </a:bodyPr>
          <a:lstStyle/>
          <a:p>
            <a:pPr>
              <a:lnSpc>
                <a:spcPct val="120000"/>
              </a:lnSpc>
              <a:spcAft>
                <a:spcPts val="2200"/>
              </a:spcAft>
            </a:pPr>
            <a:r>
              <a:rPr sz="3200" b="0">
                <a:solidFill>
                  <a:srgbClr val="212121"/>
                </a:solidFill>
                <a:latin typeface="BIZ UDGothic"/>
                <a:ea typeface="BIZ UDGothic"/>
              </a:rPr>
              <a:t>・ AIを使わず全探索で問題を自動生成</a:t>
            </a:r>
          </a:p>
          <a:p>
            <a:pPr>
              <a:lnSpc>
                <a:spcPct val="120000"/>
              </a:lnSpc>
              <a:spcAft>
                <a:spcPts val="2200"/>
              </a:spcAft>
            </a:pPr>
            <a:r>
              <a:rPr sz="3200" b="0">
                <a:solidFill>
                  <a:srgbClr val="212121"/>
                </a:solidFill>
                <a:latin typeface="BIZ UDGothic"/>
                <a:ea typeface="BIZ UDGothic"/>
              </a:rPr>
              <a:t>・ 詰み手順が一意であることを検証済み</a:t>
            </a:r>
          </a:p>
          <a:p>
            <a:pPr>
              <a:lnSpc>
                <a:spcPct val="120000"/>
              </a:lnSpc>
              <a:spcAft>
                <a:spcPts val="2200"/>
              </a:spcAft>
            </a:pPr>
            <a:r>
              <a:rPr sz="3200" b="0">
                <a:solidFill>
                  <a:srgbClr val="212121"/>
                </a:solidFill>
                <a:latin typeface="BIZ UDGothic"/>
                <a:ea typeface="BIZ UDGothic"/>
              </a:rPr>
              <a:t>・ 難易度Lv.1／Lv.3／Lv.5で初心者から挑戦できる</a:t>
            </a:r>
          </a:p>
          <a:p>
            <a:pPr>
              <a:lnSpc>
                <a:spcPct val="120000"/>
              </a:lnSpc>
              <a:spcAft>
                <a:spcPts val="2200"/>
              </a:spcAft>
            </a:pPr>
            <a:r>
              <a:rPr sz="3200" b="0">
                <a:solidFill>
                  <a:srgbClr val="212121"/>
                </a:solidFill>
                <a:latin typeface="BIZ UDGothic"/>
                <a:ea typeface="BIZ UDGothic"/>
              </a:rPr>
              <a:t>・ 指し手をサーバー側で毎回再検証</a:t>
            </a:r>
          </a:p>
          <a:p>
            <a:pPr>
              <a:lnSpc>
                <a:spcPct val="120000"/>
              </a:lnSpc>
              <a:spcAft>
                <a:spcPts val="2200"/>
              </a:spcAft>
            </a:pPr>
            <a:r>
              <a:rPr sz="3200" b="0">
                <a:solidFill>
                  <a:srgbClr val="212121"/>
                </a:solidFill>
                <a:latin typeface="BIZ UDGothic"/>
                <a:ea typeface="BIZ UDGothic"/>
              </a:rPr>
              <a:t>・ デイリーチャレンジと7種のランキング</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458200" y="164592"/>
            <a:ext cx="2423160" cy="274320"/>
          </a:xfrm>
          <a:prstGeom prst="rect">
            <a:avLst/>
          </a:prstGeom>
          <a:noFill/>
        </p:spPr>
        <p:txBody>
          <a:bodyPr wrap="none" anchor="t" lIns="0" rIns="0" tIns="0" bIns="0">
            <a:spAutoFit/>
          </a:bodyPr>
          <a:lstStyle/>
          <a:p>
            <a:pPr algn="r">
              <a:lnSpc>
                <a:spcPct val="115000"/>
              </a:lnSpc>
            </a:pPr>
            <a:r>
              <a:rPr sz="1400" b="0">
                <a:solidFill>
                  <a:srgbClr val="5C5C5C"/>
                </a:solidFill>
                <a:latin typeface="BIZ UDGothic"/>
                <a:ea typeface="BIZ UDGothic"/>
              </a:rPr>
              <a:t>チーム：ねるねるねるね</a:t>
            </a:r>
          </a:p>
        </p:txBody>
      </p:sp>
      <p:sp>
        <p:nvSpPr>
          <p:cNvPr id="3" name="TextBox 2"/>
          <p:cNvSpPr txBox="1"/>
          <p:nvPr/>
        </p:nvSpPr>
        <p:spPr>
          <a:xfrm>
            <a:off x="411480" y="300000"/>
            <a:ext cx="9500000" cy="560000"/>
          </a:xfrm>
          <a:prstGeom prst="rect">
            <a:avLst/>
          </a:prstGeom>
          <a:noFill/>
        </p:spPr>
        <p:txBody>
          <a:bodyPr wrap="none" anchor="t" lIns="0" rIns="0" tIns="0" bIns="0">
            <a:spAutoFit/>
          </a:bodyPr>
          <a:lstStyle/>
          <a:p>
            <a:pPr algn="l">
              <a:lnSpc>
                <a:spcPct val="115000"/>
              </a:lnSpc>
            </a:pPr>
            <a:r>
              <a:rPr sz="4000" b="1">
                <a:solidFill>
                  <a:srgbClr val="212121"/>
                </a:solidFill>
                <a:latin typeface="BIZ UDGothic"/>
                <a:ea typeface="BIZ UDGothic"/>
              </a:rPr>
              <a:t>17. 実演（成果物紹介）</a:t>
            </a:r>
          </a:p>
        </p:txBody>
      </p:sp>
      <p:sp>
        <p:nvSpPr>
          <p:cNvPr id="4" name="Rectangle 3"/>
          <p:cNvSpPr/>
          <p:nvPr/>
        </p:nvSpPr>
        <p:spPr>
          <a:xfrm>
            <a:off x="411480" y="1080000"/>
            <a:ext cx="10789920" cy="22860"/>
          </a:xfrm>
          <a:prstGeom prst="rect">
            <a:avLst/>
          </a:prstGeom>
          <a:solidFill>
            <a:srgbClr val="E67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11201400" y="292608"/>
            <a:ext cx="384048" cy="384048"/>
          </a:xfrm>
          <a:prstGeom prst="ellipse">
            <a:avLst/>
          </a:prstGeom>
          <a:solidFill>
            <a:srgbClr val="E67000"/>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BIZ UDGothic"/>
                <a:ea typeface="BIZ UDGothic"/>
              </a:rPr>
              <a:t>17</a:t>
            </a:r>
          </a:p>
        </p:txBody>
      </p:sp>
      <p:sp>
        <p:nvSpPr>
          <p:cNvPr id="6" name="Rectangle 5"/>
          <p:cNvSpPr/>
          <p:nvPr/>
        </p:nvSpPr>
        <p:spPr>
          <a:xfrm>
            <a:off x="0" y="6565392"/>
            <a:ext cx="12191695" cy="292608"/>
          </a:xfrm>
          <a:prstGeom prst="rect">
            <a:avLst/>
          </a:prstGeom>
          <a:solidFill>
            <a:srgbClr val="E67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251960" y="6601968"/>
            <a:ext cx="3657600" cy="201168"/>
          </a:xfrm>
          <a:prstGeom prst="rect">
            <a:avLst/>
          </a:prstGeom>
          <a:noFill/>
        </p:spPr>
        <p:txBody>
          <a:bodyPr wrap="none" anchor="t" lIns="0" rIns="0" tIns="0" bIns="0">
            <a:spAutoFit/>
          </a:bodyPr>
          <a:lstStyle/>
          <a:p>
            <a:pPr algn="ctr">
              <a:lnSpc>
                <a:spcPct val="115000"/>
              </a:lnSpc>
            </a:pPr>
            <a:r>
              <a:rPr sz="1200" b="1">
                <a:solidFill>
                  <a:srgbClr val="FFFFFF"/>
                </a:solidFill>
                <a:latin typeface="BIZ UDGothic"/>
                <a:ea typeface="BIZ UDGothic"/>
              </a:rPr>
              <a:t>AI詰将棋トレーナー　発表資料</a:t>
            </a:r>
          </a:p>
        </p:txBody>
      </p:sp>
      <p:sp>
        <p:nvSpPr>
          <p:cNvPr id="8" name="Rounded Rectangle 7"/>
          <p:cNvSpPr/>
          <p:nvPr/>
        </p:nvSpPr>
        <p:spPr>
          <a:xfrm>
            <a:off x="900000" y="1700000"/>
            <a:ext cx="3200000" cy="1800000"/>
          </a:xfrm>
          <a:prstGeom prst="roundRect">
            <a:avLst/>
          </a:prstGeom>
          <a:solidFill>
            <a:srgbClr val="FDECD8"/>
          </a:solidFill>
          <a:ln w="19050">
            <a:solidFill>
              <a:srgbClr val="E670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3000" b="1">
                <a:solidFill>
                  <a:srgbClr val="212121"/>
                </a:solidFill>
                <a:latin typeface="BIZ UDGothic"/>
                <a:ea typeface="BIZ UDGothic"/>
              </a:rPr>
              <a:t>1. 選ぶ</a:t>
            </a:r>
          </a:p>
          <a:p>
            <a:pPr algn="ctr"/>
            <a:r>
              <a:rPr sz="2400" b="0">
                <a:solidFill>
                  <a:srgbClr val="5C5C5C"/>
                </a:solidFill>
                <a:latin typeface="BIZ UDGothic"/>
                <a:ea typeface="BIZ UDGothic"/>
              </a:rPr>
              <a:t>問題を選択</a:t>
            </a:r>
          </a:p>
        </p:txBody>
      </p:sp>
      <p:cxnSp>
        <p:nvCxnSpPr>
          <p:cNvPr id="9" name="Connector 8"/>
          <p:cNvCxnSpPr/>
          <p:nvPr/>
        </p:nvCxnSpPr>
        <p:spPr>
          <a:xfrm>
            <a:off x="4100000" y="2600000"/>
            <a:ext cx="500000" cy="0"/>
          </a:xfrm>
          <a:prstGeom prst="line">
            <a:avLst/>
          </a:prstGeom>
          <a:ln w="31750">
            <a:solidFill>
              <a:srgbClr val="E670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4600000" y="1700000"/>
            <a:ext cx="3200000" cy="1800000"/>
          </a:xfrm>
          <a:prstGeom prst="roundRect">
            <a:avLst/>
          </a:prstGeom>
          <a:solidFill>
            <a:srgbClr val="FDECD8"/>
          </a:solidFill>
          <a:ln w="19050">
            <a:solidFill>
              <a:srgbClr val="E670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3000" b="1">
                <a:solidFill>
                  <a:srgbClr val="212121"/>
                </a:solidFill>
                <a:latin typeface="BIZ UDGothic"/>
                <a:ea typeface="BIZ UDGothic"/>
              </a:rPr>
              <a:t>2. 解く</a:t>
            </a:r>
          </a:p>
          <a:p>
            <a:pPr algn="ctr"/>
            <a:r>
              <a:rPr sz="2400" b="0">
                <a:solidFill>
                  <a:srgbClr val="5C5C5C"/>
                </a:solidFill>
                <a:latin typeface="BIZ UDGothic"/>
                <a:ea typeface="BIZ UDGothic"/>
              </a:rPr>
              <a:t>一手を考える</a:t>
            </a:r>
          </a:p>
        </p:txBody>
      </p:sp>
      <p:cxnSp>
        <p:nvCxnSpPr>
          <p:cNvPr id="11" name="Connector 10"/>
          <p:cNvCxnSpPr/>
          <p:nvPr/>
        </p:nvCxnSpPr>
        <p:spPr>
          <a:xfrm>
            <a:off x="7800000" y="2600000"/>
            <a:ext cx="500000" cy="0"/>
          </a:xfrm>
          <a:prstGeom prst="line">
            <a:avLst/>
          </a:prstGeom>
          <a:ln w="31750">
            <a:solidFill>
              <a:srgbClr val="E670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8300000" y="1700000"/>
            <a:ext cx="3200000" cy="1800000"/>
          </a:xfrm>
          <a:prstGeom prst="roundRect">
            <a:avLst/>
          </a:prstGeom>
          <a:solidFill>
            <a:srgbClr val="FDECD8"/>
          </a:solidFill>
          <a:ln w="19050">
            <a:solidFill>
              <a:srgbClr val="E67000"/>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3000" b="1">
                <a:solidFill>
                  <a:srgbClr val="212121"/>
                </a:solidFill>
                <a:latin typeface="BIZ UDGothic"/>
                <a:ea typeface="BIZ UDGothic"/>
              </a:rPr>
              <a:t>3. 確認</a:t>
            </a:r>
          </a:p>
          <a:p>
            <a:pPr algn="ctr"/>
            <a:r>
              <a:rPr sz="2400" b="0">
                <a:solidFill>
                  <a:srgbClr val="5C5C5C"/>
                </a:solidFill>
                <a:latin typeface="BIZ UDGothic"/>
                <a:ea typeface="BIZ UDGothic"/>
              </a:rPr>
              <a:t>結果を見る</a:t>
            </a:r>
          </a:p>
        </p:txBody>
      </p:sp>
      <p:sp>
        <p:nvSpPr>
          <p:cNvPr id="13" name="TextBox 12"/>
          <p:cNvSpPr txBox="1"/>
          <p:nvPr/>
        </p:nvSpPr>
        <p:spPr>
          <a:xfrm>
            <a:off x="700000" y="4100000"/>
            <a:ext cx="10800000" cy="700000"/>
          </a:xfrm>
          <a:prstGeom prst="rect">
            <a:avLst/>
          </a:prstGeom>
          <a:noFill/>
        </p:spPr>
        <p:txBody>
          <a:bodyPr wrap="none" anchor="t" lIns="0" rIns="0" tIns="0" bIns="0">
            <a:spAutoFit/>
          </a:bodyPr>
          <a:lstStyle/>
          <a:p>
            <a:pPr algn="ctr">
              <a:lnSpc>
                <a:spcPct val="115000"/>
              </a:lnSpc>
            </a:pPr>
            <a:r>
              <a:rPr sz="2800" b="1">
                <a:solidFill>
                  <a:srgbClr val="212121"/>
                </a:solidFill>
                <a:latin typeface="BIZ UDGothic"/>
                <a:ea typeface="BIZ UDGothic"/>
              </a:rPr>
              <a:t>誰でも使える簡単操作 — 実際の画面をご覧に入れます</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8458200" y="164592"/>
            <a:ext cx="2423160" cy="274320"/>
          </a:xfrm>
          <a:prstGeom prst="rect">
            <a:avLst/>
          </a:prstGeom>
          <a:noFill/>
        </p:spPr>
        <p:txBody>
          <a:bodyPr wrap="none" lIns="0" tIns="0" rIns="0" bIns="0" anchor="t">
            <a:spAutoFit/>
          </a:bodyPr>
          <a:lstStyle/>
          <a:p>
            <a:pPr algn="r">
              <a:lnSpc>
                <a:spcPct val="115000"/>
              </a:lnSpc>
            </a:pPr>
            <a:r>
              <a:rPr sz="1400" b="0">
                <a:solidFill>
                  <a:srgbClr val="5C5C5C"/>
                </a:solidFill>
                <a:latin typeface="BIZ UDGothic"/>
                <a:ea typeface="BIZ UDGothic"/>
              </a:rPr>
              <a:t>チーム：ねるねるねるね</a:t>
            </a:r>
          </a:p>
        </p:txBody>
      </p:sp>
      <p:sp>
        <p:nvSpPr>
          <p:cNvPr id="3" name="TextBox 2"/>
          <p:cNvSpPr txBox="1"/>
          <p:nvPr/>
        </p:nvSpPr>
        <p:spPr>
          <a:xfrm>
            <a:off x="411480" y="300000"/>
            <a:ext cx="9500000" cy="560000"/>
          </a:xfrm>
          <a:prstGeom prst="rect">
            <a:avLst/>
          </a:prstGeom>
          <a:noFill/>
        </p:spPr>
        <p:txBody>
          <a:bodyPr wrap="none" lIns="0" tIns="0" rIns="0" bIns="0" anchor="t">
            <a:spAutoFit/>
          </a:bodyPr>
          <a:lstStyle/>
          <a:p>
            <a:pPr algn="l">
              <a:lnSpc>
                <a:spcPct val="115000"/>
              </a:lnSpc>
            </a:pPr>
            <a:r>
              <a:rPr sz="4000" b="1">
                <a:solidFill>
                  <a:srgbClr val="212121"/>
                </a:solidFill>
                <a:latin typeface="BIZ UDGothic"/>
                <a:ea typeface="BIZ UDGothic"/>
              </a:rPr>
              <a:t>18. 課題</a:t>
            </a:r>
          </a:p>
        </p:txBody>
      </p:sp>
      <p:sp>
        <p:nvSpPr>
          <p:cNvPr id="4" name="Rectangle 3"/>
          <p:cNvSpPr/>
          <p:nvPr/>
        </p:nvSpPr>
        <p:spPr>
          <a:xfrm>
            <a:off x="411480" y="1080000"/>
            <a:ext cx="10789920" cy="22860"/>
          </a:xfrm>
          <a:prstGeom prst="rect">
            <a:avLst/>
          </a:prstGeom>
          <a:solidFill>
            <a:srgbClr val="E67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11201400" y="292608"/>
            <a:ext cx="384048" cy="384048"/>
          </a:xfrm>
          <a:prstGeom prst="ellipse">
            <a:avLst/>
          </a:prstGeom>
          <a:solidFill>
            <a:srgbClr val="E67000"/>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800" b="1">
                <a:solidFill>
                  <a:srgbClr val="FFFFFF"/>
                </a:solidFill>
                <a:latin typeface="BIZ UDGothic"/>
                <a:ea typeface="BIZ UDGothic"/>
              </a:rPr>
              <a:t>18</a:t>
            </a:r>
          </a:p>
        </p:txBody>
      </p:sp>
      <p:sp>
        <p:nvSpPr>
          <p:cNvPr id="6" name="Rectangle 5"/>
          <p:cNvSpPr/>
          <p:nvPr/>
        </p:nvSpPr>
        <p:spPr>
          <a:xfrm>
            <a:off x="0" y="6565392"/>
            <a:ext cx="12191695" cy="292608"/>
          </a:xfrm>
          <a:prstGeom prst="rect">
            <a:avLst/>
          </a:prstGeom>
          <a:solidFill>
            <a:srgbClr val="E67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251960" y="6601968"/>
            <a:ext cx="3657600" cy="201168"/>
          </a:xfrm>
          <a:prstGeom prst="rect">
            <a:avLst/>
          </a:prstGeom>
          <a:noFill/>
        </p:spPr>
        <p:txBody>
          <a:bodyPr wrap="none" lIns="0" tIns="0" rIns="0" bIns="0" anchor="t">
            <a:spAutoFit/>
          </a:bodyPr>
          <a:lstStyle/>
          <a:p>
            <a:pPr algn="ctr">
              <a:lnSpc>
                <a:spcPct val="115000"/>
              </a:lnSpc>
            </a:pPr>
            <a:r>
              <a:rPr sz="1200" b="1">
                <a:solidFill>
                  <a:srgbClr val="FFFFFF"/>
                </a:solidFill>
                <a:latin typeface="BIZ UDGothic"/>
                <a:ea typeface="BIZ UDGothic"/>
              </a:rPr>
              <a:t>AI詰将棋トレーナー　発表資料</a:t>
            </a:r>
          </a:p>
        </p:txBody>
      </p:sp>
      <p:sp>
        <p:nvSpPr>
          <p:cNvPr id="8" name="TextBox 7"/>
          <p:cNvSpPr txBox="1"/>
          <p:nvPr/>
        </p:nvSpPr>
        <p:spPr>
          <a:xfrm>
            <a:off x="900000" y="1500000"/>
            <a:ext cx="10400000" cy="4500000"/>
          </a:xfrm>
          <a:prstGeom prst="rect">
            <a:avLst/>
          </a:prstGeom>
          <a:noFill/>
        </p:spPr>
        <p:txBody>
          <a:bodyPr wrap="square" lIns="0" tIns="0" rIns="0" bIns="0">
            <a:spAutoFit/>
          </a:bodyPr>
          <a:lstStyle/>
          <a:p>
            <a:pPr>
              <a:lnSpc>
                <a:spcPct val="120000"/>
              </a:lnSpc>
              <a:spcAft>
                <a:spcPts val="2600"/>
              </a:spcAft>
            </a:pPr>
            <a:r>
              <a:rPr sz="3200" b="0">
                <a:solidFill>
                  <a:srgbClr val="212121"/>
                </a:solidFill>
                <a:latin typeface="BIZ UDGothic"/>
                <a:ea typeface="BIZ UDGothic"/>
              </a:rPr>
              <a:t>・ AI解説文の自動生成（現状は定型文での解説）</a:t>
            </a:r>
          </a:p>
          <a:p>
            <a:pPr>
              <a:lnSpc>
                <a:spcPct val="120000"/>
              </a:lnSpc>
              <a:spcAft>
                <a:spcPts val="2600"/>
              </a:spcAft>
            </a:pPr>
            <a:r>
              <a:rPr sz="3200" b="0">
                <a:solidFill>
                  <a:srgbClr val="212121"/>
                </a:solidFill>
                <a:latin typeface="BIZ UDGothic"/>
                <a:ea typeface="BIZ UDGothic"/>
              </a:rPr>
              <a:t>・ 称号・バッジ機能は未実装</a:t>
            </a:r>
          </a:p>
          <a:p>
            <a:pPr>
              <a:lnSpc>
                <a:spcPct val="120000"/>
              </a:lnSpc>
              <a:spcAft>
                <a:spcPts val="2600"/>
              </a:spcAft>
            </a:pPr>
            <a:r>
              <a:rPr sz="3200" b="0">
                <a:solidFill>
                  <a:srgbClr val="212121"/>
                </a:solidFill>
                <a:latin typeface="BIZ UDGothic"/>
                <a:ea typeface="BIZ UDGothic"/>
              </a:rPr>
              <a:t>・ 問題を管理する管理者画面が未実装</a:t>
            </a:r>
          </a:p>
          <a:p>
            <a:pPr>
              <a:lnSpc>
                <a:spcPct val="120000"/>
              </a:lnSpc>
              <a:spcAft>
                <a:spcPts val="2600"/>
              </a:spcAft>
            </a:pPr>
            <a:r>
              <a:rPr sz="3200" b="0">
                <a:solidFill>
                  <a:srgbClr val="212121"/>
                </a:solidFill>
                <a:latin typeface="BIZ UDGothic"/>
                <a:ea typeface="BIZ UDGothic"/>
              </a:rPr>
              <a:t>・ 詰将棋の「無駄合」の厳密な判定には未対応</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8458200" y="164592"/>
            <a:ext cx="2423160" cy="274320"/>
          </a:xfrm>
          <a:prstGeom prst="rect">
            <a:avLst/>
          </a:prstGeom>
          <a:noFill/>
        </p:spPr>
        <p:txBody>
          <a:bodyPr wrap="none" lIns="0" tIns="0" rIns="0" bIns="0" anchor="t">
            <a:spAutoFit/>
          </a:bodyPr>
          <a:lstStyle/>
          <a:p>
            <a:pPr algn="r">
              <a:lnSpc>
                <a:spcPct val="115000"/>
              </a:lnSpc>
            </a:pPr>
            <a:r>
              <a:rPr sz="1400" b="0">
                <a:solidFill>
                  <a:srgbClr val="5C5C5C"/>
                </a:solidFill>
                <a:latin typeface="BIZ UDGothic"/>
                <a:ea typeface="BIZ UDGothic"/>
              </a:rPr>
              <a:t>チーム：ねるねるねるね</a:t>
            </a:r>
          </a:p>
        </p:txBody>
      </p:sp>
      <p:sp>
        <p:nvSpPr>
          <p:cNvPr id="3" name="TextBox 2"/>
          <p:cNvSpPr txBox="1"/>
          <p:nvPr/>
        </p:nvSpPr>
        <p:spPr>
          <a:xfrm>
            <a:off x="411480" y="300000"/>
            <a:ext cx="9500000" cy="560000"/>
          </a:xfrm>
          <a:prstGeom prst="rect">
            <a:avLst/>
          </a:prstGeom>
          <a:noFill/>
        </p:spPr>
        <p:txBody>
          <a:bodyPr wrap="none" lIns="0" tIns="0" rIns="0" bIns="0" anchor="t">
            <a:spAutoFit/>
          </a:bodyPr>
          <a:lstStyle/>
          <a:p>
            <a:pPr algn="l">
              <a:lnSpc>
                <a:spcPct val="115000"/>
              </a:lnSpc>
            </a:pPr>
            <a:r>
              <a:rPr sz="4000" b="1">
                <a:solidFill>
                  <a:srgbClr val="212121"/>
                </a:solidFill>
                <a:latin typeface="BIZ UDGothic"/>
                <a:ea typeface="BIZ UDGothic"/>
              </a:rPr>
              <a:t>19. 今後の展望</a:t>
            </a:r>
          </a:p>
        </p:txBody>
      </p:sp>
      <p:sp>
        <p:nvSpPr>
          <p:cNvPr id="4" name="Rectangle 3"/>
          <p:cNvSpPr/>
          <p:nvPr/>
        </p:nvSpPr>
        <p:spPr>
          <a:xfrm>
            <a:off x="411480" y="1080000"/>
            <a:ext cx="10789920" cy="22860"/>
          </a:xfrm>
          <a:prstGeom prst="rect">
            <a:avLst/>
          </a:prstGeom>
          <a:solidFill>
            <a:srgbClr val="E67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11201400" y="292608"/>
            <a:ext cx="384048" cy="384048"/>
          </a:xfrm>
          <a:prstGeom prst="ellipse">
            <a:avLst/>
          </a:prstGeom>
          <a:solidFill>
            <a:srgbClr val="E67000"/>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800" b="1">
                <a:solidFill>
                  <a:srgbClr val="FFFFFF"/>
                </a:solidFill>
                <a:latin typeface="BIZ UDGothic"/>
                <a:ea typeface="BIZ UDGothic"/>
              </a:rPr>
              <a:t>19</a:t>
            </a:r>
          </a:p>
        </p:txBody>
      </p:sp>
      <p:sp>
        <p:nvSpPr>
          <p:cNvPr id="6" name="Rectangle 5"/>
          <p:cNvSpPr/>
          <p:nvPr/>
        </p:nvSpPr>
        <p:spPr>
          <a:xfrm>
            <a:off x="0" y="6565392"/>
            <a:ext cx="12191695" cy="292608"/>
          </a:xfrm>
          <a:prstGeom prst="rect">
            <a:avLst/>
          </a:prstGeom>
          <a:solidFill>
            <a:srgbClr val="E67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251960" y="6601968"/>
            <a:ext cx="3657600" cy="201168"/>
          </a:xfrm>
          <a:prstGeom prst="rect">
            <a:avLst/>
          </a:prstGeom>
          <a:noFill/>
        </p:spPr>
        <p:txBody>
          <a:bodyPr wrap="none" lIns="0" tIns="0" rIns="0" bIns="0" anchor="t">
            <a:spAutoFit/>
          </a:bodyPr>
          <a:lstStyle/>
          <a:p>
            <a:pPr algn="ctr">
              <a:lnSpc>
                <a:spcPct val="115000"/>
              </a:lnSpc>
            </a:pPr>
            <a:r>
              <a:rPr sz="1200" b="1">
                <a:solidFill>
                  <a:srgbClr val="FFFFFF"/>
                </a:solidFill>
                <a:latin typeface="BIZ UDGothic"/>
                <a:ea typeface="BIZ UDGothic"/>
              </a:rPr>
              <a:t>AI詰将棋トレーナー　発表資料</a:t>
            </a:r>
          </a:p>
        </p:txBody>
      </p:sp>
      <p:sp>
        <p:nvSpPr>
          <p:cNvPr id="8" name="TextBox 7"/>
          <p:cNvSpPr txBox="1"/>
          <p:nvPr/>
        </p:nvSpPr>
        <p:spPr>
          <a:xfrm>
            <a:off x="900000" y="1500000"/>
            <a:ext cx="10400000" cy="4500000"/>
          </a:xfrm>
          <a:prstGeom prst="rect">
            <a:avLst/>
          </a:prstGeom>
          <a:noFill/>
        </p:spPr>
        <p:txBody>
          <a:bodyPr wrap="square" lIns="0" tIns="0" rIns="0" bIns="0">
            <a:spAutoFit/>
          </a:bodyPr>
          <a:lstStyle/>
          <a:p>
            <a:pPr>
              <a:lnSpc>
                <a:spcPct val="120000"/>
              </a:lnSpc>
              <a:spcAft>
                <a:spcPts val="2600"/>
              </a:spcAft>
            </a:pPr>
            <a:r>
              <a:rPr sz="3200" b="0">
                <a:solidFill>
                  <a:srgbClr val="212121"/>
                </a:solidFill>
                <a:latin typeface="BIZ UDGothic"/>
                <a:ea typeface="BIZ UDGothic"/>
              </a:rPr>
              <a:t>・ 解説文の自動生成をAIで高度化</a:t>
            </a:r>
          </a:p>
          <a:p>
            <a:pPr>
              <a:lnSpc>
                <a:spcPct val="120000"/>
              </a:lnSpc>
              <a:spcAft>
                <a:spcPts val="2600"/>
              </a:spcAft>
            </a:pPr>
            <a:r>
              <a:rPr sz="3200" b="0">
                <a:solidFill>
                  <a:srgbClr val="212121"/>
                </a:solidFill>
                <a:latin typeface="BIZ UDGothic"/>
                <a:ea typeface="BIZ UDGothic"/>
              </a:rPr>
              <a:t>・ 称号・バッジで達成感をさらに強化</a:t>
            </a:r>
          </a:p>
          <a:p>
            <a:pPr>
              <a:lnSpc>
                <a:spcPct val="120000"/>
              </a:lnSpc>
              <a:spcAft>
                <a:spcPts val="2600"/>
              </a:spcAft>
            </a:pPr>
            <a:r>
              <a:rPr sz="3200" b="0">
                <a:solidFill>
                  <a:srgbClr val="212121"/>
                </a:solidFill>
                <a:latin typeface="BIZ UDGothic"/>
                <a:ea typeface="BIZ UDGothic"/>
              </a:rPr>
              <a:t>・ 管理者画面を整備し、問題管理を効率化</a:t>
            </a:r>
          </a:p>
          <a:p>
            <a:pPr>
              <a:lnSpc>
                <a:spcPct val="120000"/>
              </a:lnSpc>
              <a:spcAft>
                <a:spcPts val="2600"/>
              </a:spcAft>
            </a:pPr>
            <a:r>
              <a:rPr sz="3200" b="0">
                <a:solidFill>
                  <a:srgbClr val="212121"/>
                </a:solidFill>
                <a:latin typeface="BIZ UDGothic"/>
                <a:ea typeface="BIZ UDGothic"/>
              </a:rPr>
              <a:t>・ スマートフォンでの操作性をさらに最適化</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8458200" y="164592"/>
            <a:ext cx="2423160" cy="274320"/>
          </a:xfrm>
          <a:prstGeom prst="rect">
            <a:avLst/>
          </a:prstGeom>
          <a:noFill/>
        </p:spPr>
        <p:txBody>
          <a:bodyPr wrap="none" lIns="0" tIns="0" rIns="0" bIns="0" anchor="t">
            <a:spAutoFit/>
          </a:bodyPr>
          <a:lstStyle/>
          <a:p>
            <a:pPr algn="r">
              <a:lnSpc>
                <a:spcPct val="115000"/>
              </a:lnSpc>
            </a:pPr>
            <a:r>
              <a:rPr sz="1400" b="0">
                <a:solidFill>
                  <a:srgbClr val="5C5C5C"/>
                </a:solidFill>
                <a:latin typeface="BIZ UDGothic"/>
                <a:ea typeface="BIZ UDGothic"/>
              </a:rPr>
              <a:t>チーム：ねるねるねるね</a:t>
            </a:r>
          </a:p>
        </p:txBody>
      </p:sp>
      <p:sp>
        <p:nvSpPr>
          <p:cNvPr id="3" name="TextBox 2"/>
          <p:cNvSpPr txBox="1"/>
          <p:nvPr/>
        </p:nvSpPr>
        <p:spPr>
          <a:xfrm>
            <a:off x="411480" y="300000"/>
            <a:ext cx="9500000" cy="560000"/>
          </a:xfrm>
          <a:prstGeom prst="rect">
            <a:avLst/>
          </a:prstGeom>
          <a:noFill/>
        </p:spPr>
        <p:txBody>
          <a:bodyPr wrap="none" lIns="0" tIns="0" rIns="0" bIns="0" anchor="t">
            <a:spAutoFit/>
          </a:bodyPr>
          <a:lstStyle/>
          <a:p>
            <a:pPr algn="l">
              <a:lnSpc>
                <a:spcPct val="115000"/>
              </a:lnSpc>
            </a:pPr>
            <a:r>
              <a:rPr sz="4000" b="1">
                <a:solidFill>
                  <a:srgbClr val="212121"/>
                </a:solidFill>
                <a:latin typeface="BIZ UDGothic"/>
                <a:ea typeface="BIZ UDGothic"/>
              </a:rPr>
              <a:t>20. まとめ</a:t>
            </a:r>
          </a:p>
        </p:txBody>
      </p:sp>
      <p:sp>
        <p:nvSpPr>
          <p:cNvPr id="4" name="Rectangle 3"/>
          <p:cNvSpPr/>
          <p:nvPr/>
        </p:nvSpPr>
        <p:spPr>
          <a:xfrm>
            <a:off x="411480" y="1080000"/>
            <a:ext cx="10789920" cy="22860"/>
          </a:xfrm>
          <a:prstGeom prst="rect">
            <a:avLst/>
          </a:prstGeom>
          <a:solidFill>
            <a:srgbClr val="E67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a:off x="11201400" y="292608"/>
            <a:ext cx="384048" cy="384048"/>
          </a:xfrm>
          <a:prstGeom prst="ellipse">
            <a:avLst/>
          </a:prstGeom>
          <a:solidFill>
            <a:srgbClr val="E67000"/>
          </a:solidFill>
          <a:ln>
            <a:noFill/>
          </a:ln>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800" b="1">
                <a:solidFill>
                  <a:srgbClr val="FFFFFF"/>
                </a:solidFill>
                <a:latin typeface="BIZ UDGothic"/>
                <a:ea typeface="BIZ UDGothic"/>
              </a:rPr>
              <a:t>20</a:t>
            </a:r>
          </a:p>
        </p:txBody>
      </p:sp>
      <p:sp>
        <p:nvSpPr>
          <p:cNvPr id="6" name="Rectangle 5"/>
          <p:cNvSpPr/>
          <p:nvPr/>
        </p:nvSpPr>
        <p:spPr>
          <a:xfrm>
            <a:off x="0" y="6565392"/>
            <a:ext cx="12191695" cy="292608"/>
          </a:xfrm>
          <a:prstGeom prst="rect">
            <a:avLst/>
          </a:prstGeom>
          <a:solidFill>
            <a:srgbClr val="E67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251960" y="6601968"/>
            <a:ext cx="3657600" cy="201168"/>
          </a:xfrm>
          <a:prstGeom prst="rect">
            <a:avLst/>
          </a:prstGeom>
          <a:noFill/>
        </p:spPr>
        <p:txBody>
          <a:bodyPr wrap="none" lIns="0" tIns="0" rIns="0" bIns="0" anchor="t">
            <a:spAutoFit/>
          </a:bodyPr>
          <a:lstStyle/>
          <a:p>
            <a:pPr algn="ctr">
              <a:lnSpc>
                <a:spcPct val="115000"/>
              </a:lnSpc>
            </a:pPr>
            <a:r>
              <a:rPr sz="1200" b="1">
                <a:solidFill>
                  <a:srgbClr val="FFFFFF"/>
                </a:solidFill>
                <a:latin typeface="BIZ UDGothic"/>
                <a:ea typeface="BIZ UDGothic"/>
              </a:rPr>
              <a:t>AI詰将棋トレーナー　発表資料</a:t>
            </a:r>
          </a:p>
        </p:txBody>
      </p:sp>
      <p:sp>
        <p:nvSpPr>
          <p:cNvPr id="8" name="TextBox 7"/>
          <p:cNvSpPr txBox="1"/>
          <p:nvPr/>
        </p:nvSpPr>
        <p:spPr>
          <a:xfrm>
            <a:off x="900000" y="1500000"/>
            <a:ext cx="10400000" cy="900000"/>
          </a:xfrm>
          <a:prstGeom prst="rect">
            <a:avLst/>
          </a:prstGeom>
          <a:noFill/>
        </p:spPr>
        <p:txBody>
          <a:bodyPr wrap="none" lIns="0" tIns="0" rIns="0" bIns="0" anchor="t">
            <a:spAutoFit/>
          </a:bodyPr>
          <a:lstStyle/>
          <a:p>
            <a:pPr algn="ctr">
              <a:lnSpc>
                <a:spcPct val="115000"/>
              </a:lnSpc>
            </a:pPr>
            <a:r>
              <a:rPr sz="3200" b="1">
                <a:solidFill>
                  <a:srgbClr val="212121"/>
                </a:solidFill>
                <a:latin typeface="BIZ UDGothic"/>
                <a:ea typeface="BIZ UDGothic"/>
              </a:rPr>
              <a:t>AI詰将棋トレーナーは、誰でも手軽に</a:t>
            </a:r>
          </a:p>
          <a:p>
            <a:pPr algn="ctr">
              <a:lnSpc>
                <a:spcPct val="115000"/>
              </a:lnSpc>
            </a:pPr>
            <a:r>
              <a:rPr sz="3200" b="1">
                <a:solidFill>
                  <a:srgbClr val="212121"/>
                </a:solidFill>
                <a:latin typeface="BIZ UDGothic"/>
                <a:ea typeface="BIZ UDGothic"/>
              </a:rPr>
              <a:t>詰将棋を学べるWebアプリです。</a:t>
            </a:r>
          </a:p>
        </p:txBody>
      </p:sp>
      <p:sp>
        <p:nvSpPr>
          <p:cNvPr id="9" name="Rounded Rectangle 8"/>
          <p:cNvSpPr/>
          <p:nvPr/>
        </p:nvSpPr>
        <p:spPr>
          <a:xfrm>
            <a:off x="1600000" y="3000000"/>
            <a:ext cx="4200000" cy="650000"/>
          </a:xfrm>
          <a:prstGeom prst="roundRect">
            <a:avLst/>
          </a:prstGeom>
          <a:solidFill>
            <a:srgbClr val="E67000"/>
          </a:solidFill>
          <a:ln>
            <a:noFill/>
          </a:ln>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r>
              <a:rPr sz="2600" b="1">
                <a:solidFill>
                  <a:srgbClr val="FFFFFF"/>
                </a:solidFill>
                <a:latin typeface="BIZ UDGothic"/>
                <a:ea typeface="BIZ UDGothic"/>
              </a:rPr>
              <a:t>実現できたこと</a:t>
            </a:r>
          </a:p>
        </p:txBody>
      </p:sp>
      <p:sp>
        <p:nvSpPr>
          <p:cNvPr id="10" name="TextBox 9"/>
          <p:cNvSpPr txBox="1"/>
          <p:nvPr/>
        </p:nvSpPr>
        <p:spPr>
          <a:xfrm>
            <a:off x="1600000" y="3750000"/>
            <a:ext cx="4200000" cy="700000"/>
          </a:xfrm>
          <a:prstGeom prst="rect">
            <a:avLst/>
          </a:prstGeom>
          <a:noFill/>
        </p:spPr>
        <p:txBody>
          <a:bodyPr wrap="none" lIns="0" tIns="0" rIns="0" bIns="0" anchor="t">
            <a:spAutoFit/>
          </a:bodyPr>
          <a:lstStyle/>
          <a:p>
            <a:pPr algn="ctr">
              <a:lnSpc>
                <a:spcPct val="115000"/>
              </a:lnSpc>
            </a:pPr>
            <a:r>
              <a:rPr sz="2400" b="0">
                <a:solidFill>
                  <a:srgbClr val="212121"/>
                </a:solidFill>
                <a:latin typeface="BIZ UDGothic"/>
                <a:ea typeface="BIZ UDGothic"/>
              </a:rPr>
              <a:t>挑戦・ヒント・記録</a:t>
            </a:r>
          </a:p>
        </p:txBody>
      </p:sp>
      <p:sp>
        <p:nvSpPr>
          <p:cNvPr id="11" name="Rounded Rectangle 10"/>
          <p:cNvSpPr/>
          <p:nvPr/>
        </p:nvSpPr>
        <p:spPr>
          <a:xfrm>
            <a:off x="6400000" y="3000000"/>
            <a:ext cx="4200000" cy="650000"/>
          </a:xfrm>
          <a:prstGeom prst="roundRect">
            <a:avLst/>
          </a:prstGeom>
          <a:solidFill>
            <a:srgbClr val="E67000"/>
          </a:solidFill>
          <a:ln>
            <a:noFill/>
          </a:ln>
        </p:spPr>
        <p:style>
          <a:lnRef idx="1">
            <a:schemeClr val="accent1"/>
          </a:lnRef>
          <a:fillRef idx="3">
            <a:schemeClr val="accent1"/>
          </a:fillRef>
          <a:effectRef idx="2">
            <a:schemeClr val="accent1"/>
          </a:effectRef>
          <a:fontRef idx="minor">
            <a:schemeClr val="lt1"/>
          </a:fontRef>
        </p:style>
        <p:txBody>
          <a:bodyPr wrap="square" lIns="45720" tIns="0" rIns="45720" bIns="0" rtlCol="0" anchor="ctr"/>
          <a:lstStyle/>
          <a:p>
            <a:pPr algn="ctr"/>
            <a:r>
              <a:rPr sz="2600" b="1">
                <a:solidFill>
                  <a:srgbClr val="FFFFFF"/>
                </a:solidFill>
                <a:latin typeface="BIZ UDGothic"/>
                <a:ea typeface="BIZ UDGothic"/>
              </a:rPr>
              <a:t>今後の改善</a:t>
            </a:r>
          </a:p>
        </p:txBody>
      </p:sp>
      <p:sp>
        <p:nvSpPr>
          <p:cNvPr id="12" name="TextBox 11"/>
          <p:cNvSpPr txBox="1"/>
          <p:nvPr/>
        </p:nvSpPr>
        <p:spPr>
          <a:xfrm>
            <a:off x="6400000" y="3750000"/>
            <a:ext cx="4200000" cy="700000"/>
          </a:xfrm>
          <a:prstGeom prst="rect">
            <a:avLst/>
          </a:prstGeom>
          <a:noFill/>
        </p:spPr>
        <p:txBody>
          <a:bodyPr wrap="none" lIns="0" tIns="0" rIns="0" bIns="0" anchor="t">
            <a:spAutoFit/>
          </a:bodyPr>
          <a:lstStyle/>
          <a:p>
            <a:pPr algn="ctr">
              <a:lnSpc>
                <a:spcPct val="115000"/>
              </a:lnSpc>
            </a:pPr>
            <a:r>
              <a:rPr sz="2400" b="0">
                <a:solidFill>
                  <a:srgbClr val="212121"/>
                </a:solidFill>
                <a:latin typeface="BIZ UDGothic"/>
                <a:ea typeface="BIZ UDGothic"/>
              </a:rPr>
              <a:t>問題追加・スマホ最適化</a:t>
            </a:r>
          </a:p>
        </p:txBody>
      </p:sp>
      <p:sp>
        <p:nvSpPr>
          <p:cNvPr id="13" name="TextBox 12"/>
          <p:cNvSpPr txBox="1"/>
          <p:nvPr/>
        </p:nvSpPr>
        <p:spPr>
          <a:xfrm>
            <a:off x="900000" y="5000000"/>
            <a:ext cx="10400000" cy="700000"/>
          </a:xfrm>
          <a:prstGeom prst="rect">
            <a:avLst/>
          </a:prstGeom>
          <a:noFill/>
        </p:spPr>
        <p:txBody>
          <a:bodyPr wrap="none" lIns="0" tIns="0" rIns="0" bIns="0" anchor="t">
            <a:spAutoFit/>
          </a:bodyPr>
          <a:lstStyle/>
          <a:p>
            <a:pPr algn="ctr">
              <a:lnSpc>
                <a:spcPct val="115000"/>
              </a:lnSpc>
            </a:pPr>
            <a:r>
              <a:rPr sz="3600" b="1">
                <a:solidFill>
                  <a:srgbClr val="E67000"/>
                </a:solidFill>
                <a:latin typeface="BIZ UDGothic"/>
                <a:ea typeface="BIZ UDGothic"/>
              </a:rPr>
              <a:t>ご清聴ありがとうございました</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TotalTime>
  <Words>1184</Words>
  <Application>Microsoft Macintosh PowerPoint</Application>
  <PresentationFormat>ワイド画面</PresentationFormat>
  <Paragraphs>261</Paragraphs>
  <Slides>20</Slides>
  <Notes>20</Notes>
  <HiddenSlides>0</HiddenSlides>
  <MMClips>0</MMClips>
  <ScaleCrop>false</ScaleCrop>
  <HeadingPairs>
    <vt:vector size="6" baseType="variant">
      <vt:variant>
        <vt:lpstr>使用されているフォント</vt:lpstr>
      </vt:variant>
      <vt:variant>
        <vt:i4>3</vt:i4>
      </vt:variant>
      <vt:variant>
        <vt:lpstr>テーマ</vt:lpstr>
      </vt:variant>
      <vt:variant>
        <vt:i4>1</vt:i4>
      </vt:variant>
      <vt:variant>
        <vt:lpstr>スライド タイトル</vt:lpstr>
      </vt:variant>
      <vt:variant>
        <vt:i4>20</vt:i4>
      </vt:variant>
    </vt:vector>
  </HeadingPairs>
  <TitlesOfParts>
    <vt:vector size="24" baseType="lpstr">
      <vt:lpstr>BIZ UDGothic</vt:lpstr>
      <vt:lpstr>Arial</vt:lpstr>
      <vt:lpstr>Calibri</vt:lpstr>
      <vt:lpstr>Office Theme</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瀬戸山　陽一</cp:lastModifiedBy>
  <cp:revision>3</cp:revision>
  <dcterms:created xsi:type="dcterms:W3CDTF">2013-01-27T09:14:16Z</dcterms:created>
  <dcterms:modified xsi:type="dcterms:W3CDTF">2026-07-23T14:32:52Z</dcterms:modified>
  <cp:category/>
</cp:coreProperties>
</file>