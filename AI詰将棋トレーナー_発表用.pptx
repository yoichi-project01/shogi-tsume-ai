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900000" y="2700000"/>
            <a:ext cx="10400000" cy="1200000"/>
          </a:xfrm>
          <a:prstGeom prst="rect">
            <a:avLst/>
          </a:prstGeom>
          <a:noFill/>
        </p:spPr>
        <p:txBody>
          <a:bodyPr wrap="none" anchor="t" lIns="0" rIns="0" tIns="0" bIns="0">
            <a:spAutoFit/>
          </a:bodyPr>
          <a:lstStyle/>
          <a:p>
            <a:pPr algn="ctr">
              <a:lnSpc>
                <a:spcPct val="115000"/>
              </a:lnSpc>
            </a:pPr>
            <a:r>
              <a:rPr sz="5400" b="1">
                <a:solidFill>
                  <a:srgbClr val="212121"/>
                </a:solidFill>
                <a:latin typeface="Yu Gothic"/>
              </a:rPr>
              <a:t>AI詰将棋トレーナー</a:t>
            </a:r>
          </a:p>
        </p:txBody>
      </p:sp>
      <p:sp>
        <p:nvSpPr>
          <p:cNvPr id="4" name="TextBox 3"/>
          <p:cNvSpPr txBox="1"/>
          <p:nvPr/>
        </p:nvSpPr>
        <p:spPr>
          <a:xfrm>
            <a:off x="900000" y="3900000"/>
            <a:ext cx="10400000" cy="500000"/>
          </a:xfrm>
          <a:prstGeom prst="rect">
            <a:avLst/>
          </a:prstGeom>
          <a:noFill/>
        </p:spPr>
        <p:txBody>
          <a:bodyPr wrap="none" anchor="t" lIns="0" rIns="0" tIns="0" bIns="0">
            <a:spAutoFit/>
          </a:bodyPr>
          <a:lstStyle/>
          <a:p>
            <a:pPr algn="ctr">
              <a:lnSpc>
                <a:spcPct val="115000"/>
              </a:lnSpc>
            </a:pPr>
            <a:r>
              <a:rPr sz="2200" b="0">
                <a:solidFill>
                  <a:srgbClr val="5C5C5C"/>
                </a:solidFill>
                <a:latin typeface="Yu Gothic"/>
              </a:rPr>
              <a:t>誰でも続けられる詰将棋トレーニングWebアプリ</a:t>
            </a:r>
          </a:p>
        </p:txBody>
      </p:sp>
      <p:sp>
        <p:nvSpPr>
          <p:cNvPr id="5" name="Rectangle 4"/>
          <p:cNvSpPr/>
          <p:nvPr/>
        </p:nvSpPr>
        <p:spPr>
          <a:xfrm>
            <a:off x="4596000" y="4500000"/>
            <a:ext cx="3000000" cy="3000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1. テーマ</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1</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TextBox 7"/>
          <p:cNvSpPr txBox="1"/>
          <p:nvPr/>
        </p:nvSpPr>
        <p:spPr>
          <a:xfrm>
            <a:off x="900000" y="2500000"/>
            <a:ext cx="10400000" cy="900000"/>
          </a:xfrm>
          <a:prstGeom prst="rect">
            <a:avLst/>
          </a:prstGeom>
          <a:noFill/>
        </p:spPr>
        <p:txBody>
          <a:bodyPr wrap="none" anchor="t" lIns="0" rIns="0" tIns="0" bIns="0">
            <a:spAutoFit/>
          </a:bodyPr>
          <a:lstStyle/>
          <a:p>
            <a:pPr algn="ctr">
              <a:lnSpc>
                <a:spcPct val="115000"/>
              </a:lnSpc>
            </a:pPr>
            <a:r>
              <a:rPr sz="4000" b="1">
                <a:solidFill>
                  <a:srgbClr val="E67000"/>
                </a:solidFill>
                <a:latin typeface="Yu Gothic"/>
              </a:rPr>
              <a:t>毎日1問、無理なく続く詰将棋トレーニング</a:t>
            </a:r>
          </a:p>
        </p:txBody>
      </p:sp>
      <p:sp>
        <p:nvSpPr>
          <p:cNvPr id="9" name="TextBox 8"/>
          <p:cNvSpPr txBox="1"/>
          <p:nvPr/>
        </p:nvSpPr>
        <p:spPr>
          <a:xfrm>
            <a:off x="1600000" y="3700000"/>
            <a:ext cx="9000000" cy="1500000"/>
          </a:xfrm>
          <a:prstGeom prst="rect">
            <a:avLst/>
          </a:prstGeom>
          <a:noFill/>
        </p:spPr>
        <p:txBody>
          <a:bodyPr wrap="square" lIns="0" rIns="0" tIns="0" bIns="0">
            <a:spAutoFit/>
          </a:bodyPr>
          <a:lstStyle/>
          <a:p>
            <a:pPr>
              <a:lnSpc>
                <a:spcPct val="120000"/>
              </a:lnSpc>
              <a:spcAft>
                <a:spcPts val="1400"/>
              </a:spcAft>
            </a:pPr>
            <a:r>
              <a:rPr sz="3200" b="0">
                <a:solidFill>
                  <a:srgbClr val="212121"/>
                </a:solidFill>
                <a:latin typeface="Yu Gothic"/>
              </a:rPr>
              <a:t>・ 詰将棋 × Web アプリ</a:t>
            </a:r>
          </a:p>
          <a:p>
            <a:pPr>
              <a:lnSpc>
                <a:spcPct val="120000"/>
              </a:lnSpc>
              <a:spcAft>
                <a:spcPts val="1400"/>
              </a:spcAft>
            </a:pPr>
            <a:r>
              <a:rPr sz="3200" b="0">
                <a:solidFill>
                  <a:srgbClr val="212121"/>
                </a:solidFill>
                <a:latin typeface="Yu Gothic"/>
              </a:rPr>
              <a:t>・ 毎日挑戦できる仕組みで、将棋力を段階的に伸ばす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2. 背景</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2</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Rounded Rectangle 7"/>
          <p:cNvSpPr/>
          <p:nvPr/>
        </p:nvSpPr>
        <p:spPr>
          <a:xfrm>
            <a:off x="700000" y="1600000"/>
            <a:ext cx="3450000" cy="850000"/>
          </a:xfrm>
          <a:prstGeom prst="roundRect">
            <a:avLst/>
          </a:prstGeom>
          <a:solidFill>
            <a:srgbClr val="FDECD8"/>
          </a:solidFill>
          <a:ln w="19050">
            <a:solidFill>
              <a:srgbClr val="E670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212121"/>
                </a:solidFill>
                <a:latin typeface="Yu Gothic"/>
              </a:rPr>
              <a:t>続かない</a:t>
            </a:r>
          </a:p>
        </p:txBody>
      </p:sp>
      <p:sp>
        <p:nvSpPr>
          <p:cNvPr id="9" name="TextBox 8"/>
          <p:cNvSpPr txBox="1"/>
          <p:nvPr/>
        </p:nvSpPr>
        <p:spPr>
          <a:xfrm>
            <a:off x="700000" y="2620000"/>
            <a:ext cx="3450000" cy="1300000"/>
          </a:xfrm>
          <a:prstGeom prst="rect">
            <a:avLst/>
          </a:prstGeom>
          <a:noFill/>
        </p:spPr>
        <p:txBody>
          <a:bodyPr wrap="square" anchor="t" lIns="0" rIns="0" tIns="0" bIns="0">
            <a:spAutoFit/>
          </a:bodyPr>
          <a:lstStyle/>
          <a:p>
            <a:pPr algn="ctr">
              <a:lnSpc>
                <a:spcPct val="115000"/>
              </a:lnSpc>
            </a:pPr>
            <a:r>
              <a:rPr sz="2000" b="0">
                <a:solidFill>
                  <a:srgbClr val="212121"/>
                </a:solidFill>
                <a:latin typeface="Yu Gothic"/>
              </a:rPr>
              <a:t>紙だけだと</a:t>
            </a:r>
          </a:p>
          <a:p>
            <a:pPr algn="ctr">
              <a:lnSpc>
                <a:spcPct val="115000"/>
              </a:lnSpc>
            </a:pPr>
            <a:r>
              <a:rPr sz="2000" b="0">
                <a:solidFill>
                  <a:srgbClr val="212121"/>
                </a:solidFill>
                <a:latin typeface="Yu Gothic"/>
              </a:rPr>
              <a:t>習慣にしにくい</a:t>
            </a:r>
          </a:p>
        </p:txBody>
      </p:sp>
      <p:sp>
        <p:nvSpPr>
          <p:cNvPr id="10" name="Rounded Rectangle 9"/>
          <p:cNvSpPr/>
          <p:nvPr/>
        </p:nvSpPr>
        <p:spPr>
          <a:xfrm>
            <a:off x="4500000" y="1600000"/>
            <a:ext cx="3450000" cy="850000"/>
          </a:xfrm>
          <a:prstGeom prst="roundRect">
            <a:avLst/>
          </a:prstGeom>
          <a:solidFill>
            <a:srgbClr val="FDECD8"/>
          </a:solidFill>
          <a:ln w="19050">
            <a:solidFill>
              <a:srgbClr val="E670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212121"/>
                </a:solidFill>
                <a:latin typeface="Yu Gothic"/>
              </a:rPr>
              <a:t>難しい</a:t>
            </a:r>
          </a:p>
        </p:txBody>
      </p:sp>
      <p:sp>
        <p:nvSpPr>
          <p:cNvPr id="11" name="TextBox 10"/>
          <p:cNvSpPr txBox="1"/>
          <p:nvPr/>
        </p:nvSpPr>
        <p:spPr>
          <a:xfrm>
            <a:off x="4500000" y="2620000"/>
            <a:ext cx="3450000" cy="1300000"/>
          </a:xfrm>
          <a:prstGeom prst="rect">
            <a:avLst/>
          </a:prstGeom>
          <a:noFill/>
        </p:spPr>
        <p:txBody>
          <a:bodyPr wrap="square" anchor="t" lIns="0" rIns="0" tIns="0" bIns="0">
            <a:spAutoFit/>
          </a:bodyPr>
          <a:lstStyle/>
          <a:p>
            <a:pPr algn="ctr">
              <a:lnSpc>
                <a:spcPct val="115000"/>
              </a:lnSpc>
            </a:pPr>
            <a:r>
              <a:rPr sz="2000" b="0">
                <a:solidFill>
                  <a:srgbClr val="212121"/>
                </a:solidFill>
                <a:latin typeface="Yu Gothic"/>
              </a:rPr>
              <a:t>初心者には</a:t>
            </a:r>
          </a:p>
          <a:p>
            <a:pPr algn="ctr">
              <a:lnSpc>
                <a:spcPct val="115000"/>
              </a:lnSpc>
            </a:pPr>
            <a:r>
              <a:rPr sz="2000" b="0">
                <a:solidFill>
                  <a:srgbClr val="212121"/>
                </a:solidFill>
                <a:latin typeface="Yu Gothic"/>
              </a:rPr>
              <a:t>考え方が分かりにくい</a:t>
            </a:r>
          </a:p>
        </p:txBody>
      </p:sp>
      <p:sp>
        <p:nvSpPr>
          <p:cNvPr id="12" name="Rounded Rectangle 11"/>
          <p:cNvSpPr/>
          <p:nvPr/>
        </p:nvSpPr>
        <p:spPr>
          <a:xfrm>
            <a:off x="8300000" y="1600000"/>
            <a:ext cx="3450000" cy="850000"/>
          </a:xfrm>
          <a:prstGeom prst="roundRect">
            <a:avLst/>
          </a:prstGeom>
          <a:solidFill>
            <a:srgbClr val="FDECD8"/>
          </a:solidFill>
          <a:ln w="19050">
            <a:solidFill>
              <a:srgbClr val="E670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212121"/>
                </a:solidFill>
                <a:latin typeface="Yu Gothic"/>
              </a:rPr>
              <a:t>見えない</a:t>
            </a:r>
          </a:p>
        </p:txBody>
      </p:sp>
      <p:sp>
        <p:nvSpPr>
          <p:cNvPr id="13" name="TextBox 12"/>
          <p:cNvSpPr txBox="1"/>
          <p:nvPr/>
        </p:nvSpPr>
        <p:spPr>
          <a:xfrm>
            <a:off x="8300000" y="2620000"/>
            <a:ext cx="3450000" cy="1300000"/>
          </a:xfrm>
          <a:prstGeom prst="rect">
            <a:avLst/>
          </a:prstGeom>
          <a:noFill/>
        </p:spPr>
        <p:txBody>
          <a:bodyPr wrap="square" anchor="t" lIns="0" rIns="0" tIns="0" bIns="0">
            <a:spAutoFit/>
          </a:bodyPr>
          <a:lstStyle/>
          <a:p>
            <a:pPr algn="ctr">
              <a:lnSpc>
                <a:spcPct val="115000"/>
              </a:lnSpc>
            </a:pPr>
            <a:r>
              <a:rPr sz="2000" b="0">
                <a:solidFill>
                  <a:srgbClr val="212121"/>
                </a:solidFill>
                <a:latin typeface="Yu Gothic"/>
              </a:rPr>
              <a:t>成長や結果が</a:t>
            </a:r>
          </a:p>
          <a:p>
            <a:pPr algn="ctr">
              <a:lnSpc>
                <a:spcPct val="115000"/>
              </a:lnSpc>
            </a:pPr>
            <a:r>
              <a:rPr sz="2000" b="0">
                <a:solidFill>
                  <a:srgbClr val="212121"/>
                </a:solidFill>
                <a:latin typeface="Yu Gothic"/>
              </a:rPr>
              <a:t>分かりにくい</a:t>
            </a:r>
          </a:p>
        </p:txBody>
      </p:sp>
      <p:sp>
        <p:nvSpPr>
          <p:cNvPr id="14" name="TextBox 13"/>
          <p:cNvSpPr txBox="1"/>
          <p:nvPr/>
        </p:nvSpPr>
        <p:spPr>
          <a:xfrm>
            <a:off x="700000" y="4300000"/>
            <a:ext cx="10800000" cy="700000"/>
          </a:xfrm>
          <a:prstGeom prst="rect">
            <a:avLst/>
          </a:prstGeom>
          <a:noFill/>
        </p:spPr>
        <p:txBody>
          <a:bodyPr wrap="none" anchor="t" lIns="0" rIns="0" tIns="0" bIns="0">
            <a:spAutoFit/>
          </a:bodyPr>
          <a:lstStyle/>
          <a:p>
            <a:pPr algn="ctr">
              <a:lnSpc>
                <a:spcPct val="115000"/>
              </a:lnSpc>
            </a:pPr>
            <a:r>
              <a:rPr sz="2800" b="1">
                <a:solidFill>
                  <a:srgbClr val="212121"/>
                </a:solidFill>
                <a:latin typeface="Yu Gothic"/>
              </a:rPr>
              <a:t>だから、手軽に続けられて成長が見えるアプリへ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3. 目的</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3</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TextBox 7"/>
          <p:cNvSpPr txBox="1"/>
          <p:nvPr/>
        </p:nvSpPr>
        <p:spPr>
          <a:xfrm>
            <a:off x="1200000" y="1600000"/>
            <a:ext cx="9800000" cy="2600000"/>
          </a:xfrm>
          <a:prstGeom prst="rect">
            <a:avLst/>
          </a:prstGeom>
          <a:noFill/>
        </p:spPr>
        <p:txBody>
          <a:bodyPr wrap="square" lIns="0" rIns="0" tIns="0" bIns="0">
            <a:spAutoFit/>
          </a:bodyPr>
          <a:lstStyle/>
          <a:p>
            <a:pPr>
              <a:lnSpc>
                <a:spcPct val="120000"/>
              </a:lnSpc>
              <a:spcAft>
                <a:spcPts val="2600"/>
              </a:spcAft>
            </a:pPr>
            <a:r>
              <a:rPr sz="3200" b="0">
                <a:solidFill>
                  <a:srgbClr val="212121"/>
                </a:solidFill>
                <a:latin typeface="Yu Gothic"/>
              </a:rPr>
              <a:t>・ 誰でも手軽に始められる詰将棋学習にする</a:t>
            </a:r>
          </a:p>
          <a:p>
            <a:pPr>
              <a:lnSpc>
                <a:spcPct val="120000"/>
              </a:lnSpc>
              <a:spcAft>
                <a:spcPts val="2600"/>
              </a:spcAft>
            </a:pPr>
            <a:r>
              <a:rPr sz="3200" b="0">
                <a:solidFill>
                  <a:srgbClr val="212121"/>
                </a:solidFill>
                <a:latin typeface="Yu Gothic"/>
              </a:rPr>
              <a:t>・ 毎日続けられる仕組みで習慣化する</a:t>
            </a:r>
          </a:p>
          <a:p>
            <a:pPr>
              <a:lnSpc>
                <a:spcPct val="120000"/>
              </a:lnSpc>
              <a:spcAft>
                <a:spcPts val="2600"/>
              </a:spcAft>
            </a:pPr>
            <a:r>
              <a:rPr sz="3200" b="0">
                <a:solidFill>
                  <a:srgbClr val="212121"/>
                </a:solidFill>
                <a:latin typeface="Yu Gothic"/>
              </a:rPr>
              <a:t>・ 成績・記録が見えることで成長を実感できるようにする</a:t>
            </a:r>
          </a:p>
        </p:txBody>
      </p:sp>
      <p:sp>
        <p:nvSpPr>
          <p:cNvPr id="9" name="TextBox 8"/>
          <p:cNvSpPr txBox="1"/>
          <p:nvPr/>
        </p:nvSpPr>
        <p:spPr>
          <a:xfrm>
            <a:off x="1200000" y="4700000"/>
            <a:ext cx="9800000" cy="700000"/>
          </a:xfrm>
          <a:prstGeom prst="rect">
            <a:avLst/>
          </a:prstGeom>
          <a:noFill/>
        </p:spPr>
        <p:txBody>
          <a:bodyPr wrap="none" anchor="t" lIns="0" rIns="0" tIns="0" bIns="0">
            <a:spAutoFit/>
          </a:bodyPr>
          <a:lstStyle/>
          <a:p>
            <a:pPr algn="l">
              <a:lnSpc>
                <a:spcPct val="115000"/>
              </a:lnSpc>
            </a:pPr>
            <a:r>
              <a:rPr sz="3200" b="1">
                <a:solidFill>
                  <a:srgbClr val="E67000"/>
                </a:solidFill>
                <a:latin typeface="Yu Gothic"/>
              </a:rPr>
              <a:t>→ 詰将棋を「続けられる学び」に変える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4. 開発内容</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4</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TextBox 7"/>
          <p:cNvSpPr txBox="1"/>
          <p:nvPr/>
        </p:nvSpPr>
        <p:spPr>
          <a:xfrm>
            <a:off x="900000" y="1500000"/>
            <a:ext cx="10400000" cy="4500000"/>
          </a:xfrm>
          <a:prstGeom prst="rect">
            <a:avLst/>
          </a:prstGeom>
          <a:noFill/>
        </p:spPr>
        <p:txBody>
          <a:bodyPr wrap="square" lIns="0" rIns="0" tIns="0" bIns="0">
            <a:spAutoFit/>
          </a:bodyPr>
          <a:lstStyle/>
          <a:p>
            <a:pPr>
              <a:lnSpc>
                <a:spcPct val="120000"/>
              </a:lnSpc>
              <a:spcAft>
                <a:spcPts val="2200"/>
              </a:spcAft>
            </a:pPr>
            <a:r>
              <a:rPr sz="2800" b="0">
                <a:solidFill>
                  <a:srgbClr val="212121"/>
                </a:solidFill>
                <a:latin typeface="Yu Gothic"/>
              </a:rPr>
              <a:t>・ 詰将棋ルールエンジン（合法手生成・王手判定・詰み判定）</a:t>
            </a:r>
          </a:p>
          <a:p>
            <a:pPr>
              <a:lnSpc>
                <a:spcPct val="120000"/>
              </a:lnSpc>
              <a:spcAft>
                <a:spcPts val="2200"/>
              </a:spcAft>
            </a:pPr>
            <a:r>
              <a:rPr sz="2800" b="0">
                <a:solidFill>
                  <a:srgbClr val="212121"/>
                </a:solidFill>
                <a:latin typeface="Yu Gothic"/>
              </a:rPr>
              <a:t>・ 問題の自動生成（1手詰・3手詰・5手詰、一意性を検証）</a:t>
            </a:r>
          </a:p>
          <a:p>
            <a:pPr>
              <a:lnSpc>
                <a:spcPct val="120000"/>
              </a:lnSpc>
              <a:spcAft>
                <a:spcPts val="2200"/>
              </a:spcAft>
            </a:pPr>
            <a:r>
              <a:rPr sz="2800" b="0">
                <a:solidFill>
                  <a:srgbClr val="212121"/>
                </a:solidFill>
                <a:latin typeface="Yu Gothic"/>
              </a:rPr>
              <a:t>・ 4段階のヒント機能</a:t>
            </a:r>
          </a:p>
          <a:p>
            <a:pPr>
              <a:lnSpc>
                <a:spcPct val="120000"/>
              </a:lnSpc>
              <a:spcAft>
                <a:spcPts val="2200"/>
              </a:spcAft>
            </a:pPr>
            <a:r>
              <a:rPr sz="2800" b="0">
                <a:solidFill>
                  <a:srgbClr val="212121"/>
                </a:solidFill>
                <a:latin typeface="Yu Gothic"/>
              </a:rPr>
              <a:t>・ デイリーチャレンジ・問題集（レベル別）</a:t>
            </a:r>
          </a:p>
          <a:p>
            <a:pPr>
              <a:lnSpc>
                <a:spcPct val="120000"/>
              </a:lnSpc>
              <a:spcAft>
                <a:spcPts val="2200"/>
              </a:spcAft>
            </a:pPr>
            <a:r>
              <a:rPr sz="2800" b="0">
                <a:solidFill>
                  <a:srgbClr val="212121"/>
                </a:solidFill>
                <a:latin typeface="Yu Gothic"/>
              </a:rPr>
              <a:t>・ 解答記録・ランキング・マイページ</a:t>
            </a:r>
          </a:p>
          <a:p>
            <a:pPr>
              <a:lnSpc>
                <a:spcPct val="120000"/>
              </a:lnSpc>
              <a:spcAft>
                <a:spcPts val="2200"/>
              </a:spcAft>
            </a:pPr>
            <a:r>
              <a:rPr sz="2800" b="0">
                <a:solidFill>
                  <a:srgbClr val="212121"/>
                </a:solidFill>
                <a:latin typeface="Yu Gothic"/>
              </a:rPr>
              <a:t>・ ユーザー名によるログイン機能</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5. 使用技術</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5</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Rounded Rectangle 7"/>
          <p:cNvSpPr/>
          <p:nvPr/>
        </p:nvSpPr>
        <p:spPr>
          <a:xfrm>
            <a:off x="1171000" y="1650000"/>
            <a:ext cx="1450000" cy="1450000"/>
          </a:xfrm>
          <a:prstGeom prst="roundRect">
            <a:avLst>
              <a:gd name="adj" fmla="val 12000"/>
            </a:avLst>
          </a:prstGeom>
          <a:solidFill>
            <a:srgbClr val="FFFFFF"/>
          </a:solidFill>
          <a:ln w="19050">
            <a:solidFill>
              <a:srgbClr val="F0AA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nextdotjs.png"/>
          <p:cNvPicPr>
            <a:picLocks noChangeAspect="1"/>
          </p:cNvPicPr>
          <p:nvPr/>
        </p:nvPicPr>
        <p:blipFill>
          <a:blip r:embed="rId2"/>
          <a:stretch>
            <a:fillRect/>
          </a:stretch>
        </p:blipFill>
        <p:spPr>
          <a:xfrm>
            <a:off x="1401000" y="1880000"/>
            <a:ext cx="990000" cy="990000"/>
          </a:xfrm>
          <a:prstGeom prst="rect">
            <a:avLst/>
          </a:prstGeom>
        </p:spPr>
      </p:pic>
      <p:sp>
        <p:nvSpPr>
          <p:cNvPr id="10" name="TextBox 9"/>
          <p:cNvSpPr txBox="1"/>
          <p:nvPr/>
        </p:nvSpPr>
        <p:spPr>
          <a:xfrm>
            <a:off x="886000" y="3230000"/>
            <a:ext cx="2020000" cy="340000"/>
          </a:xfrm>
          <a:prstGeom prst="rect">
            <a:avLst/>
          </a:prstGeom>
          <a:noFill/>
        </p:spPr>
        <p:txBody>
          <a:bodyPr wrap="square" anchor="t" lIns="0" rIns="0" tIns="0" bIns="0">
            <a:spAutoFit/>
          </a:bodyPr>
          <a:lstStyle/>
          <a:p>
            <a:pPr algn="ctr">
              <a:lnSpc>
                <a:spcPct val="115000"/>
              </a:lnSpc>
            </a:pPr>
            <a:r>
              <a:rPr sz="1800" b="1">
                <a:solidFill>
                  <a:srgbClr val="212121"/>
                </a:solidFill>
                <a:latin typeface="Yu Gothic"/>
              </a:rPr>
              <a:t>Next.js</a:t>
            </a:r>
          </a:p>
        </p:txBody>
      </p:sp>
      <p:sp>
        <p:nvSpPr>
          <p:cNvPr id="11" name="TextBox 10"/>
          <p:cNvSpPr txBox="1"/>
          <p:nvPr/>
        </p:nvSpPr>
        <p:spPr>
          <a:xfrm>
            <a:off x="886000" y="3630000"/>
            <a:ext cx="2020000" cy="650000"/>
          </a:xfrm>
          <a:prstGeom prst="rect">
            <a:avLst/>
          </a:prstGeom>
          <a:noFill/>
        </p:spPr>
        <p:txBody>
          <a:bodyPr wrap="square" anchor="t" lIns="0" rIns="0" tIns="0" bIns="0">
            <a:spAutoFit/>
          </a:bodyPr>
          <a:lstStyle/>
          <a:p>
            <a:pPr algn="ctr">
              <a:lnSpc>
                <a:spcPct val="115000"/>
              </a:lnSpc>
            </a:pPr>
            <a:r>
              <a:rPr sz="1400" b="0">
                <a:solidFill>
                  <a:srgbClr val="5C5C5C"/>
                </a:solidFill>
                <a:latin typeface="Yu Gothic"/>
              </a:rPr>
              <a:t>フロントエンド</a:t>
            </a:r>
          </a:p>
          <a:p>
            <a:pPr algn="ctr">
              <a:lnSpc>
                <a:spcPct val="115000"/>
              </a:lnSpc>
            </a:pPr>
            <a:r>
              <a:rPr sz="1400" b="0">
                <a:solidFill>
                  <a:srgbClr val="5C5C5C"/>
                </a:solidFill>
                <a:latin typeface="Yu Gothic"/>
              </a:rPr>
              <a:t>(App Router)</a:t>
            </a:r>
          </a:p>
        </p:txBody>
      </p:sp>
      <p:sp>
        <p:nvSpPr>
          <p:cNvPr id="12" name="Rounded Rectangle 11"/>
          <p:cNvSpPr/>
          <p:nvPr/>
        </p:nvSpPr>
        <p:spPr>
          <a:xfrm>
            <a:off x="3271000" y="1650000"/>
            <a:ext cx="1450000" cy="1450000"/>
          </a:xfrm>
          <a:prstGeom prst="roundRect">
            <a:avLst>
              <a:gd name="adj" fmla="val 12000"/>
            </a:avLst>
          </a:prstGeom>
          <a:solidFill>
            <a:srgbClr val="FFFFFF"/>
          </a:solidFill>
          <a:ln w="19050">
            <a:solidFill>
              <a:srgbClr val="F0AA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ypescript.png"/>
          <p:cNvPicPr>
            <a:picLocks noChangeAspect="1"/>
          </p:cNvPicPr>
          <p:nvPr/>
        </p:nvPicPr>
        <p:blipFill>
          <a:blip r:embed="rId3"/>
          <a:stretch>
            <a:fillRect/>
          </a:stretch>
        </p:blipFill>
        <p:spPr>
          <a:xfrm>
            <a:off x="3501000" y="1880000"/>
            <a:ext cx="990000" cy="990000"/>
          </a:xfrm>
          <a:prstGeom prst="rect">
            <a:avLst/>
          </a:prstGeom>
        </p:spPr>
      </p:pic>
      <p:sp>
        <p:nvSpPr>
          <p:cNvPr id="14" name="TextBox 13"/>
          <p:cNvSpPr txBox="1"/>
          <p:nvPr/>
        </p:nvSpPr>
        <p:spPr>
          <a:xfrm>
            <a:off x="2986000" y="3230000"/>
            <a:ext cx="2020000" cy="340000"/>
          </a:xfrm>
          <a:prstGeom prst="rect">
            <a:avLst/>
          </a:prstGeom>
          <a:noFill/>
        </p:spPr>
        <p:txBody>
          <a:bodyPr wrap="square" anchor="t" lIns="0" rIns="0" tIns="0" bIns="0">
            <a:spAutoFit/>
          </a:bodyPr>
          <a:lstStyle/>
          <a:p>
            <a:pPr algn="ctr">
              <a:lnSpc>
                <a:spcPct val="115000"/>
              </a:lnSpc>
            </a:pPr>
            <a:r>
              <a:rPr sz="1800" b="1">
                <a:solidFill>
                  <a:srgbClr val="212121"/>
                </a:solidFill>
                <a:latin typeface="Yu Gothic"/>
              </a:rPr>
              <a:t>TypeScript</a:t>
            </a:r>
          </a:p>
        </p:txBody>
      </p:sp>
      <p:sp>
        <p:nvSpPr>
          <p:cNvPr id="15" name="TextBox 14"/>
          <p:cNvSpPr txBox="1"/>
          <p:nvPr/>
        </p:nvSpPr>
        <p:spPr>
          <a:xfrm>
            <a:off x="2986000" y="3630000"/>
            <a:ext cx="2020000" cy="650000"/>
          </a:xfrm>
          <a:prstGeom prst="rect">
            <a:avLst/>
          </a:prstGeom>
          <a:noFill/>
        </p:spPr>
        <p:txBody>
          <a:bodyPr wrap="square" anchor="t" lIns="0" rIns="0" tIns="0" bIns="0">
            <a:spAutoFit/>
          </a:bodyPr>
          <a:lstStyle/>
          <a:p>
            <a:pPr algn="ctr">
              <a:lnSpc>
                <a:spcPct val="115000"/>
              </a:lnSpc>
            </a:pPr>
            <a:r>
              <a:rPr sz="1400" b="0">
                <a:solidFill>
                  <a:srgbClr val="5C5C5C"/>
                </a:solidFill>
                <a:latin typeface="Yu Gothic"/>
              </a:rPr>
              <a:t>型安全な実装</a:t>
            </a:r>
          </a:p>
        </p:txBody>
      </p:sp>
      <p:sp>
        <p:nvSpPr>
          <p:cNvPr id="16" name="Rounded Rectangle 15"/>
          <p:cNvSpPr/>
          <p:nvPr/>
        </p:nvSpPr>
        <p:spPr>
          <a:xfrm>
            <a:off x="5371000" y="1650000"/>
            <a:ext cx="1450000" cy="1450000"/>
          </a:xfrm>
          <a:prstGeom prst="roundRect">
            <a:avLst>
              <a:gd name="adj" fmla="val 12000"/>
            </a:avLst>
          </a:prstGeom>
          <a:solidFill>
            <a:srgbClr val="FFFFFF"/>
          </a:solidFill>
          <a:ln w="19050">
            <a:solidFill>
              <a:srgbClr val="F0AA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ailwindcss.png"/>
          <p:cNvPicPr>
            <a:picLocks noChangeAspect="1"/>
          </p:cNvPicPr>
          <p:nvPr/>
        </p:nvPicPr>
        <p:blipFill>
          <a:blip r:embed="rId4"/>
          <a:stretch>
            <a:fillRect/>
          </a:stretch>
        </p:blipFill>
        <p:spPr>
          <a:xfrm>
            <a:off x="5601000" y="1880000"/>
            <a:ext cx="990000" cy="990000"/>
          </a:xfrm>
          <a:prstGeom prst="rect">
            <a:avLst/>
          </a:prstGeom>
        </p:spPr>
      </p:pic>
      <p:sp>
        <p:nvSpPr>
          <p:cNvPr id="18" name="TextBox 17"/>
          <p:cNvSpPr txBox="1"/>
          <p:nvPr/>
        </p:nvSpPr>
        <p:spPr>
          <a:xfrm>
            <a:off x="5086000" y="3230000"/>
            <a:ext cx="2020000" cy="340000"/>
          </a:xfrm>
          <a:prstGeom prst="rect">
            <a:avLst/>
          </a:prstGeom>
          <a:noFill/>
        </p:spPr>
        <p:txBody>
          <a:bodyPr wrap="square" anchor="t" lIns="0" rIns="0" tIns="0" bIns="0">
            <a:spAutoFit/>
          </a:bodyPr>
          <a:lstStyle/>
          <a:p>
            <a:pPr algn="ctr">
              <a:lnSpc>
                <a:spcPct val="115000"/>
              </a:lnSpc>
            </a:pPr>
            <a:r>
              <a:rPr sz="1800" b="1">
                <a:solidFill>
                  <a:srgbClr val="212121"/>
                </a:solidFill>
                <a:latin typeface="Yu Gothic"/>
              </a:rPr>
              <a:t>Tailwind CSS</a:t>
            </a:r>
          </a:p>
        </p:txBody>
      </p:sp>
      <p:sp>
        <p:nvSpPr>
          <p:cNvPr id="19" name="TextBox 18"/>
          <p:cNvSpPr txBox="1"/>
          <p:nvPr/>
        </p:nvSpPr>
        <p:spPr>
          <a:xfrm>
            <a:off x="5086000" y="3630000"/>
            <a:ext cx="2020000" cy="650000"/>
          </a:xfrm>
          <a:prstGeom prst="rect">
            <a:avLst/>
          </a:prstGeom>
          <a:noFill/>
        </p:spPr>
        <p:txBody>
          <a:bodyPr wrap="square" anchor="t" lIns="0" rIns="0" tIns="0" bIns="0">
            <a:spAutoFit/>
          </a:bodyPr>
          <a:lstStyle/>
          <a:p>
            <a:pPr algn="ctr">
              <a:lnSpc>
                <a:spcPct val="115000"/>
              </a:lnSpc>
            </a:pPr>
            <a:r>
              <a:rPr sz="1400" b="0">
                <a:solidFill>
                  <a:srgbClr val="5C5C5C"/>
                </a:solidFill>
                <a:latin typeface="Yu Gothic"/>
              </a:rPr>
              <a:t>スタイリング</a:t>
            </a:r>
          </a:p>
        </p:txBody>
      </p:sp>
      <p:sp>
        <p:nvSpPr>
          <p:cNvPr id="20" name="Rounded Rectangle 19"/>
          <p:cNvSpPr/>
          <p:nvPr/>
        </p:nvSpPr>
        <p:spPr>
          <a:xfrm>
            <a:off x="7471000" y="1650000"/>
            <a:ext cx="1450000" cy="1450000"/>
          </a:xfrm>
          <a:prstGeom prst="roundRect">
            <a:avLst>
              <a:gd name="adj" fmla="val 12000"/>
            </a:avLst>
          </a:prstGeom>
          <a:solidFill>
            <a:srgbClr val="FFFFFF"/>
          </a:solidFill>
          <a:ln w="19050">
            <a:solidFill>
              <a:srgbClr val="F0AA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upabase.png"/>
          <p:cNvPicPr>
            <a:picLocks noChangeAspect="1"/>
          </p:cNvPicPr>
          <p:nvPr/>
        </p:nvPicPr>
        <p:blipFill>
          <a:blip r:embed="rId5"/>
          <a:stretch>
            <a:fillRect/>
          </a:stretch>
        </p:blipFill>
        <p:spPr>
          <a:xfrm>
            <a:off x="7701000" y="1880000"/>
            <a:ext cx="990000" cy="990000"/>
          </a:xfrm>
          <a:prstGeom prst="rect">
            <a:avLst/>
          </a:prstGeom>
        </p:spPr>
      </p:pic>
      <p:sp>
        <p:nvSpPr>
          <p:cNvPr id="22" name="TextBox 21"/>
          <p:cNvSpPr txBox="1"/>
          <p:nvPr/>
        </p:nvSpPr>
        <p:spPr>
          <a:xfrm>
            <a:off x="7186000" y="3230000"/>
            <a:ext cx="2020000" cy="340000"/>
          </a:xfrm>
          <a:prstGeom prst="rect">
            <a:avLst/>
          </a:prstGeom>
          <a:noFill/>
        </p:spPr>
        <p:txBody>
          <a:bodyPr wrap="square" anchor="t" lIns="0" rIns="0" tIns="0" bIns="0">
            <a:spAutoFit/>
          </a:bodyPr>
          <a:lstStyle/>
          <a:p>
            <a:pPr algn="ctr">
              <a:lnSpc>
                <a:spcPct val="115000"/>
              </a:lnSpc>
            </a:pPr>
            <a:r>
              <a:rPr sz="1800" b="1">
                <a:solidFill>
                  <a:srgbClr val="212121"/>
                </a:solidFill>
                <a:latin typeface="Yu Gothic"/>
              </a:rPr>
              <a:t>Supabase</a:t>
            </a:r>
          </a:p>
        </p:txBody>
      </p:sp>
      <p:sp>
        <p:nvSpPr>
          <p:cNvPr id="23" name="TextBox 22"/>
          <p:cNvSpPr txBox="1"/>
          <p:nvPr/>
        </p:nvSpPr>
        <p:spPr>
          <a:xfrm>
            <a:off x="7186000" y="3630000"/>
            <a:ext cx="2020000" cy="650000"/>
          </a:xfrm>
          <a:prstGeom prst="rect">
            <a:avLst/>
          </a:prstGeom>
          <a:noFill/>
        </p:spPr>
        <p:txBody>
          <a:bodyPr wrap="square" anchor="t" lIns="0" rIns="0" tIns="0" bIns="0">
            <a:spAutoFit/>
          </a:bodyPr>
          <a:lstStyle/>
          <a:p>
            <a:pPr algn="ctr">
              <a:lnSpc>
                <a:spcPct val="115000"/>
              </a:lnSpc>
            </a:pPr>
            <a:r>
              <a:rPr sz="1400" b="0">
                <a:solidFill>
                  <a:srgbClr val="5C5C5C"/>
                </a:solidFill>
                <a:latin typeface="Yu Gothic"/>
              </a:rPr>
              <a:t>PostgreSQL / Auth</a:t>
            </a:r>
          </a:p>
        </p:txBody>
      </p:sp>
      <p:sp>
        <p:nvSpPr>
          <p:cNvPr id="24" name="Rounded Rectangle 23"/>
          <p:cNvSpPr/>
          <p:nvPr/>
        </p:nvSpPr>
        <p:spPr>
          <a:xfrm>
            <a:off x="9571000" y="1650000"/>
            <a:ext cx="1450000" cy="1450000"/>
          </a:xfrm>
          <a:prstGeom prst="roundRect">
            <a:avLst>
              <a:gd name="adj" fmla="val 12000"/>
            </a:avLst>
          </a:prstGeom>
          <a:solidFill>
            <a:srgbClr val="FFFFFF"/>
          </a:solidFill>
          <a:ln w="19050">
            <a:solidFill>
              <a:srgbClr val="F0AA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netlify.png"/>
          <p:cNvPicPr>
            <a:picLocks noChangeAspect="1"/>
          </p:cNvPicPr>
          <p:nvPr/>
        </p:nvPicPr>
        <p:blipFill>
          <a:blip r:embed="rId6"/>
          <a:stretch>
            <a:fillRect/>
          </a:stretch>
        </p:blipFill>
        <p:spPr>
          <a:xfrm>
            <a:off x="9801000" y="1880000"/>
            <a:ext cx="990000" cy="990000"/>
          </a:xfrm>
          <a:prstGeom prst="rect">
            <a:avLst/>
          </a:prstGeom>
        </p:spPr>
      </p:pic>
      <p:sp>
        <p:nvSpPr>
          <p:cNvPr id="26" name="TextBox 25"/>
          <p:cNvSpPr txBox="1"/>
          <p:nvPr/>
        </p:nvSpPr>
        <p:spPr>
          <a:xfrm>
            <a:off x="9286000" y="3230000"/>
            <a:ext cx="2020000" cy="340000"/>
          </a:xfrm>
          <a:prstGeom prst="rect">
            <a:avLst/>
          </a:prstGeom>
          <a:noFill/>
        </p:spPr>
        <p:txBody>
          <a:bodyPr wrap="square" anchor="t" lIns="0" rIns="0" tIns="0" bIns="0">
            <a:spAutoFit/>
          </a:bodyPr>
          <a:lstStyle/>
          <a:p>
            <a:pPr algn="ctr">
              <a:lnSpc>
                <a:spcPct val="115000"/>
              </a:lnSpc>
            </a:pPr>
            <a:r>
              <a:rPr sz="1800" b="1">
                <a:solidFill>
                  <a:srgbClr val="212121"/>
                </a:solidFill>
                <a:latin typeface="Yu Gothic"/>
              </a:rPr>
              <a:t>Netlify</a:t>
            </a:r>
          </a:p>
        </p:txBody>
      </p:sp>
      <p:sp>
        <p:nvSpPr>
          <p:cNvPr id="27" name="TextBox 26"/>
          <p:cNvSpPr txBox="1"/>
          <p:nvPr/>
        </p:nvSpPr>
        <p:spPr>
          <a:xfrm>
            <a:off x="9286000" y="3630000"/>
            <a:ext cx="2020000" cy="650000"/>
          </a:xfrm>
          <a:prstGeom prst="rect">
            <a:avLst/>
          </a:prstGeom>
          <a:noFill/>
        </p:spPr>
        <p:txBody>
          <a:bodyPr wrap="square" anchor="t" lIns="0" rIns="0" tIns="0" bIns="0">
            <a:spAutoFit/>
          </a:bodyPr>
          <a:lstStyle/>
          <a:p>
            <a:pPr algn="ctr">
              <a:lnSpc>
                <a:spcPct val="115000"/>
              </a:lnSpc>
            </a:pPr>
            <a:r>
              <a:rPr sz="1400" b="0">
                <a:solidFill>
                  <a:srgbClr val="5C5C5C"/>
                </a:solidFill>
                <a:latin typeface="Yu Gothic"/>
              </a:rPr>
              <a:t>ホスティング</a:t>
            </a:r>
          </a:p>
        </p:txBody>
      </p:sp>
      <p:sp>
        <p:nvSpPr>
          <p:cNvPr id="28" name="TextBox 27"/>
          <p:cNvSpPr txBox="1"/>
          <p:nvPr/>
        </p:nvSpPr>
        <p:spPr>
          <a:xfrm>
            <a:off x="900000" y="4700000"/>
            <a:ext cx="10400000" cy="600000"/>
          </a:xfrm>
          <a:prstGeom prst="rect">
            <a:avLst/>
          </a:prstGeom>
          <a:noFill/>
        </p:spPr>
        <p:txBody>
          <a:bodyPr wrap="none" anchor="t" lIns="0" rIns="0" tIns="0" bIns="0">
            <a:spAutoFit/>
          </a:bodyPr>
          <a:lstStyle/>
          <a:p>
            <a:pPr algn="ctr">
              <a:lnSpc>
                <a:spcPct val="115000"/>
              </a:lnSpc>
            </a:pPr>
            <a:r>
              <a:rPr sz="2200" b="1">
                <a:solidFill>
                  <a:srgbClr val="212121"/>
                </a:solidFill>
                <a:latin typeface="Yu Gothic"/>
              </a:rPr>
              <a:t>将棋ロジックはAI（LLM）を使わず、自前実装のルールエンジンで動作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6. 開発環境</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6</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Rounded Rectangle 7"/>
          <p:cNvSpPr/>
          <p:nvPr/>
        </p:nvSpPr>
        <p:spPr>
          <a:xfrm>
            <a:off x="900000" y="1350000"/>
            <a:ext cx="3000000" cy="650000"/>
          </a:xfrm>
          <a:prstGeom prst="round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FFFFFF"/>
                </a:solidFill>
                <a:latin typeface="Yu Gothic"/>
              </a:rPr>
              <a:t>エディタ</a:t>
            </a:r>
          </a:p>
        </p:txBody>
      </p:sp>
      <p:sp>
        <p:nvSpPr>
          <p:cNvPr id="9" name="TextBox 8"/>
          <p:cNvSpPr txBox="1"/>
          <p:nvPr/>
        </p:nvSpPr>
        <p:spPr>
          <a:xfrm>
            <a:off x="4200000" y="1350000"/>
            <a:ext cx="7100000" cy="650000"/>
          </a:xfrm>
          <a:prstGeom prst="rect">
            <a:avLst/>
          </a:prstGeom>
          <a:noFill/>
        </p:spPr>
        <p:txBody>
          <a:bodyPr wrap="square" anchor="ctr" lIns="0" rIns="0" tIns="0" bIns="0">
            <a:spAutoFit/>
          </a:bodyPr>
          <a:lstStyle/>
          <a:p>
            <a:pPr algn="l">
              <a:lnSpc>
                <a:spcPct val="115000"/>
              </a:lnSpc>
            </a:pPr>
            <a:r>
              <a:rPr sz="2600" b="0">
                <a:solidFill>
                  <a:srgbClr val="212121"/>
                </a:solidFill>
                <a:latin typeface="Yu Gothic"/>
              </a:rPr>
              <a:t>Visual Studio Code</a:t>
            </a:r>
          </a:p>
        </p:txBody>
      </p:sp>
      <p:sp>
        <p:nvSpPr>
          <p:cNvPr id="10" name="Rounded Rectangle 9"/>
          <p:cNvSpPr/>
          <p:nvPr/>
        </p:nvSpPr>
        <p:spPr>
          <a:xfrm>
            <a:off x="900000" y="2180000"/>
            <a:ext cx="3000000" cy="650000"/>
          </a:xfrm>
          <a:prstGeom prst="round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FFFFFF"/>
                </a:solidFill>
                <a:latin typeface="Yu Gothic"/>
              </a:rPr>
              <a:t>言語・実行環境</a:t>
            </a:r>
          </a:p>
        </p:txBody>
      </p:sp>
      <p:sp>
        <p:nvSpPr>
          <p:cNvPr id="11" name="TextBox 10"/>
          <p:cNvSpPr txBox="1"/>
          <p:nvPr/>
        </p:nvSpPr>
        <p:spPr>
          <a:xfrm>
            <a:off x="4200000" y="2180000"/>
            <a:ext cx="7100000" cy="650000"/>
          </a:xfrm>
          <a:prstGeom prst="rect">
            <a:avLst/>
          </a:prstGeom>
          <a:noFill/>
        </p:spPr>
        <p:txBody>
          <a:bodyPr wrap="square" anchor="ctr" lIns="0" rIns="0" tIns="0" bIns="0">
            <a:spAutoFit/>
          </a:bodyPr>
          <a:lstStyle/>
          <a:p>
            <a:pPr algn="l">
              <a:lnSpc>
                <a:spcPct val="115000"/>
              </a:lnSpc>
            </a:pPr>
            <a:r>
              <a:rPr sz="2600" b="0">
                <a:solidFill>
                  <a:srgbClr val="212121"/>
                </a:solidFill>
                <a:latin typeface="Yu Gothic"/>
              </a:rPr>
              <a:t>Node.js / TypeScript</a:t>
            </a:r>
          </a:p>
        </p:txBody>
      </p:sp>
      <p:sp>
        <p:nvSpPr>
          <p:cNvPr id="12" name="Rounded Rectangle 11"/>
          <p:cNvSpPr/>
          <p:nvPr/>
        </p:nvSpPr>
        <p:spPr>
          <a:xfrm>
            <a:off x="900000" y="3010000"/>
            <a:ext cx="3000000" cy="650000"/>
          </a:xfrm>
          <a:prstGeom prst="round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FFFFFF"/>
                </a:solidFill>
                <a:latin typeface="Yu Gothic"/>
              </a:rPr>
              <a:t>バージョン管理</a:t>
            </a:r>
          </a:p>
        </p:txBody>
      </p:sp>
      <p:sp>
        <p:nvSpPr>
          <p:cNvPr id="13" name="TextBox 12"/>
          <p:cNvSpPr txBox="1"/>
          <p:nvPr/>
        </p:nvSpPr>
        <p:spPr>
          <a:xfrm>
            <a:off x="4200000" y="3010000"/>
            <a:ext cx="7100000" cy="650000"/>
          </a:xfrm>
          <a:prstGeom prst="rect">
            <a:avLst/>
          </a:prstGeom>
          <a:noFill/>
        </p:spPr>
        <p:txBody>
          <a:bodyPr wrap="square" anchor="ctr" lIns="0" rIns="0" tIns="0" bIns="0">
            <a:spAutoFit/>
          </a:bodyPr>
          <a:lstStyle/>
          <a:p>
            <a:pPr algn="l">
              <a:lnSpc>
                <a:spcPct val="115000"/>
              </a:lnSpc>
            </a:pPr>
            <a:r>
              <a:rPr sz="2600" b="0">
                <a:solidFill>
                  <a:srgbClr val="212121"/>
                </a:solidFill>
                <a:latin typeface="Yu Gothic"/>
              </a:rPr>
              <a:t>Git / GitHub</a:t>
            </a:r>
          </a:p>
        </p:txBody>
      </p:sp>
      <p:sp>
        <p:nvSpPr>
          <p:cNvPr id="14" name="Rounded Rectangle 13"/>
          <p:cNvSpPr/>
          <p:nvPr/>
        </p:nvSpPr>
        <p:spPr>
          <a:xfrm>
            <a:off x="900000" y="3840000"/>
            <a:ext cx="3000000" cy="650000"/>
          </a:xfrm>
          <a:prstGeom prst="round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FFFFFF"/>
                </a:solidFill>
                <a:latin typeface="Yu Gothic"/>
              </a:rPr>
              <a:t>品質管理</a:t>
            </a:r>
          </a:p>
        </p:txBody>
      </p:sp>
      <p:sp>
        <p:nvSpPr>
          <p:cNvPr id="15" name="TextBox 14"/>
          <p:cNvSpPr txBox="1"/>
          <p:nvPr/>
        </p:nvSpPr>
        <p:spPr>
          <a:xfrm>
            <a:off x="4200000" y="3840000"/>
            <a:ext cx="7100000" cy="650000"/>
          </a:xfrm>
          <a:prstGeom prst="rect">
            <a:avLst/>
          </a:prstGeom>
          <a:noFill/>
        </p:spPr>
        <p:txBody>
          <a:bodyPr wrap="square" anchor="ctr" lIns="0" rIns="0" tIns="0" bIns="0">
            <a:spAutoFit/>
          </a:bodyPr>
          <a:lstStyle/>
          <a:p>
            <a:pPr algn="l">
              <a:lnSpc>
                <a:spcPct val="115000"/>
              </a:lnSpc>
            </a:pPr>
            <a:r>
              <a:rPr sz="2600" b="0">
                <a:solidFill>
                  <a:srgbClr val="212121"/>
                </a:solidFill>
                <a:latin typeface="Yu Gothic"/>
              </a:rPr>
              <a:t>ESLint</a:t>
            </a:r>
          </a:p>
        </p:txBody>
      </p:sp>
      <p:sp>
        <p:nvSpPr>
          <p:cNvPr id="16" name="Rounded Rectangle 15"/>
          <p:cNvSpPr/>
          <p:nvPr/>
        </p:nvSpPr>
        <p:spPr>
          <a:xfrm>
            <a:off x="900000" y="4670000"/>
            <a:ext cx="3000000" cy="650000"/>
          </a:xfrm>
          <a:prstGeom prst="round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FFFFFF"/>
                </a:solidFill>
                <a:latin typeface="Yu Gothic"/>
              </a:rPr>
              <a:t>デプロイ</a:t>
            </a:r>
          </a:p>
        </p:txBody>
      </p:sp>
      <p:sp>
        <p:nvSpPr>
          <p:cNvPr id="17" name="TextBox 16"/>
          <p:cNvSpPr txBox="1"/>
          <p:nvPr/>
        </p:nvSpPr>
        <p:spPr>
          <a:xfrm>
            <a:off x="4200000" y="4670000"/>
            <a:ext cx="7100000" cy="650000"/>
          </a:xfrm>
          <a:prstGeom prst="rect">
            <a:avLst/>
          </a:prstGeom>
          <a:noFill/>
        </p:spPr>
        <p:txBody>
          <a:bodyPr wrap="square" anchor="ctr" lIns="0" rIns="0" tIns="0" bIns="0">
            <a:spAutoFit/>
          </a:bodyPr>
          <a:lstStyle/>
          <a:p>
            <a:pPr algn="l">
              <a:lnSpc>
                <a:spcPct val="115000"/>
              </a:lnSpc>
            </a:pPr>
            <a:r>
              <a:rPr sz="2600" b="0">
                <a:solidFill>
                  <a:srgbClr val="212121"/>
                </a:solidFill>
                <a:latin typeface="Yu Gothic"/>
              </a:rPr>
              <a:t>Netlify（GitHub連携で自動デプロイ）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7. システム構成</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7</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Rounded Rectangle 7"/>
          <p:cNvSpPr/>
          <p:nvPr/>
        </p:nvSpPr>
        <p:spPr>
          <a:xfrm>
            <a:off x="700000" y="1500000"/>
            <a:ext cx="2600000" cy="1300000"/>
          </a:xfrm>
          <a:prstGeom prst="roundRect">
            <a:avLst/>
          </a:prstGeom>
          <a:solidFill>
            <a:srgbClr val="FDECD8"/>
          </a:solidFill>
          <a:ln w="19050">
            <a:solidFill>
              <a:srgbClr val="E670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212121"/>
                </a:solidFill>
                <a:latin typeface="Yu Gothic"/>
              </a:rPr>
              <a:t>ブラウザ</a:t>
            </a:r>
          </a:p>
          <a:p>
            <a:pPr algn="ctr"/>
            <a:r>
              <a:rPr sz="1200" b="0">
                <a:solidFill>
                  <a:srgbClr val="5C5C5C"/>
                </a:solidFill>
                <a:latin typeface="Yu Gothic"/>
              </a:rPr>
              <a:t>ユーザー操作</a:t>
            </a:r>
          </a:p>
        </p:txBody>
      </p:sp>
      <p:sp>
        <p:nvSpPr>
          <p:cNvPr id="9" name="Rounded Rectangle 8"/>
          <p:cNvSpPr/>
          <p:nvPr/>
        </p:nvSpPr>
        <p:spPr>
          <a:xfrm>
            <a:off x="4700000" y="1500000"/>
            <a:ext cx="2900000" cy="1300000"/>
          </a:xfrm>
          <a:prstGeom prst="roundRect">
            <a:avLst/>
          </a:prstGeom>
          <a:solidFill>
            <a:srgbClr val="FDECD8"/>
          </a:solidFill>
          <a:ln w="19050">
            <a:solidFill>
              <a:srgbClr val="E670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212121"/>
                </a:solidFill>
                <a:latin typeface="Yu Gothic"/>
              </a:rPr>
              <a:t>Next.js</a:t>
            </a:r>
          </a:p>
          <a:p>
            <a:pPr algn="ctr"/>
            <a:r>
              <a:rPr sz="1200" b="0">
                <a:solidFill>
                  <a:srgbClr val="5C5C5C"/>
                </a:solidFill>
                <a:latin typeface="Yu Gothic"/>
              </a:rPr>
              <a:t>App Router / API Routes</a:t>
            </a:r>
          </a:p>
        </p:txBody>
      </p:sp>
      <p:sp>
        <p:nvSpPr>
          <p:cNvPr id="10" name="Rounded Rectangle 9"/>
          <p:cNvSpPr/>
          <p:nvPr/>
        </p:nvSpPr>
        <p:spPr>
          <a:xfrm>
            <a:off x="8900000" y="1500000"/>
            <a:ext cx="2600000" cy="1300000"/>
          </a:xfrm>
          <a:prstGeom prst="roundRect">
            <a:avLst/>
          </a:prstGeom>
          <a:solidFill>
            <a:srgbClr val="FDECD8"/>
          </a:solidFill>
          <a:ln w="19050">
            <a:solidFill>
              <a:srgbClr val="E670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212121"/>
                </a:solidFill>
                <a:latin typeface="Yu Gothic"/>
              </a:rPr>
              <a:t>Supabase</a:t>
            </a:r>
          </a:p>
          <a:p>
            <a:pPr algn="ctr"/>
            <a:r>
              <a:rPr sz="1200" b="0">
                <a:solidFill>
                  <a:srgbClr val="5C5C5C"/>
                </a:solidFill>
                <a:latin typeface="Yu Gothic"/>
              </a:rPr>
              <a:t>PostgreSQL / Auth</a:t>
            </a:r>
          </a:p>
        </p:txBody>
      </p:sp>
      <p:cxnSp>
        <p:nvCxnSpPr>
          <p:cNvPr id="11" name="Connector 10"/>
          <p:cNvCxnSpPr/>
          <p:nvPr/>
        </p:nvCxnSpPr>
        <p:spPr>
          <a:xfrm>
            <a:off x="3300000" y="2150000"/>
            <a:ext cx="1400000" cy="0"/>
          </a:xfrm>
          <a:prstGeom prst="line">
            <a:avLst/>
          </a:prstGeom>
          <a:ln w="31750">
            <a:solidFill>
              <a:srgbClr val="E67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00000" y="2150000"/>
            <a:ext cx="1300000" cy="0"/>
          </a:xfrm>
          <a:prstGeom prst="line">
            <a:avLst/>
          </a:prstGeom>
          <a:ln w="31750">
            <a:solidFill>
              <a:srgbClr val="E67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00000" y="3400000"/>
            <a:ext cx="2900000" cy="1000000"/>
          </a:xfrm>
          <a:prstGeom prst="roundRect">
            <a:avLst/>
          </a:prstGeom>
          <a:solidFill>
            <a:srgbClr val="FDECD8"/>
          </a:solidFill>
          <a:ln w="19050">
            <a:solidFill>
              <a:srgbClr val="E670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212121"/>
                </a:solidFill>
                <a:latin typeface="Yu Gothic"/>
              </a:rPr>
              <a:t>Netlify</a:t>
            </a:r>
          </a:p>
          <a:p>
            <a:pPr algn="ctr"/>
            <a:r>
              <a:rPr sz="1200" b="0">
                <a:solidFill>
                  <a:srgbClr val="5C5C5C"/>
                </a:solidFill>
                <a:latin typeface="Yu Gothic"/>
              </a:rPr>
              <a:t>ホスティング / CI</a:t>
            </a:r>
          </a:p>
        </p:txBody>
      </p:sp>
      <p:cxnSp>
        <p:nvCxnSpPr>
          <p:cNvPr id="14" name="Connector 13"/>
          <p:cNvCxnSpPr/>
          <p:nvPr/>
        </p:nvCxnSpPr>
        <p:spPr>
          <a:xfrm>
            <a:off x="6150000" y="2800000"/>
            <a:ext cx="0" cy="600000"/>
          </a:xfrm>
          <a:prstGeom prst="line">
            <a:avLst/>
          </a:prstGeom>
          <a:ln w="31750">
            <a:solidFill>
              <a:srgbClr val="E67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00000" y="3400000"/>
            <a:ext cx="2600000" cy="1000000"/>
          </a:xfrm>
          <a:prstGeom prst="roundRect">
            <a:avLst/>
          </a:prstGeom>
          <a:solidFill>
            <a:srgbClr val="FDECD8"/>
          </a:solidFill>
          <a:ln w="19050">
            <a:solidFill>
              <a:srgbClr val="E670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212121"/>
                </a:solidFill>
                <a:latin typeface="Yu Gothic"/>
              </a:rPr>
              <a:t>GitHub</a:t>
            </a:r>
          </a:p>
          <a:p>
            <a:pPr algn="ctr"/>
            <a:r>
              <a:rPr sz="1200" b="0">
                <a:solidFill>
                  <a:srgbClr val="5C5C5C"/>
                </a:solidFill>
                <a:latin typeface="Yu Gothic"/>
              </a:rPr>
              <a:t>ソースコード管理</a:t>
            </a:r>
          </a:p>
        </p:txBody>
      </p:sp>
      <p:cxnSp>
        <p:nvCxnSpPr>
          <p:cNvPr id="16" name="Connector 15"/>
          <p:cNvCxnSpPr/>
          <p:nvPr/>
        </p:nvCxnSpPr>
        <p:spPr>
          <a:xfrm>
            <a:off x="2000000" y="3900000"/>
            <a:ext cx="2700000" cy="0"/>
          </a:xfrm>
          <a:prstGeom prst="line">
            <a:avLst/>
          </a:prstGeom>
          <a:ln w="31750">
            <a:solidFill>
              <a:srgbClr val="E67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00000" y="4900000"/>
            <a:ext cx="10800000" cy="1200000"/>
          </a:xfrm>
          <a:prstGeom prst="rect">
            <a:avLst/>
          </a:prstGeom>
          <a:noFill/>
        </p:spPr>
        <p:txBody>
          <a:bodyPr wrap="square" lIns="0" rIns="0" tIns="0" bIns="0">
            <a:spAutoFit/>
          </a:bodyPr>
          <a:lstStyle/>
          <a:p>
            <a:pPr>
              <a:lnSpc>
                <a:spcPct val="120000"/>
              </a:lnSpc>
              <a:spcAft>
                <a:spcPts val="1000"/>
              </a:spcAft>
            </a:pPr>
            <a:r>
              <a:rPr sz="1800" b="0">
                <a:solidFill>
                  <a:srgbClr val="212121"/>
                </a:solidFill>
                <a:latin typeface="Yu Gothic"/>
              </a:rPr>
              <a:t>・ GitHubへのpushでNetlifyが自動ビルド・デプロイ</a:t>
            </a:r>
          </a:p>
          <a:p>
            <a:pPr>
              <a:lnSpc>
                <a:spcPct val="120000"/>
              </a:lnSpc>
              <a:spcAft>
                <a:spcPts val="1000"/>
              </a:spcAft>
            </a:pPr>
            <a:r>
              <a:rPr sz="1800" b="0">
                <a:solidFill>
                  <a:srgbClr val="212121"/>
                </a:solidFill>
                <a:latin typeface="Yu Gothic"/>
              </a:rPr>
              <a:t>・ 詰将棋の生成・判定はすべてサーバー側（Next.jsのAPI Routes）で実行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8. 画面紹介：ホーム画面</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8</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Rounded Rectangle 7"/>
          <p:cNvSpPr/>
          <p:nvPr/>
        </p:nvSpPr>
        <p:spPr>
          <a:xfrm>
            <a:off x="700000" y="1450000"/>
            <a:ext cx="6100000" cy="4900000"/>
          </a:xfrm>
          <a:prstGeom prst="roundRect">
            <a:avLst/>
          </a:prstGeom>
          <a:solidFill>
            <a:srgbClr val="FFFFFF"/>
          </a:solidFill>
          <a:ln w="19050">
            <a:solidFill>
              <a:srgbClr val="F0AA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age1.png"/>
          <p:cNvPicPr>
            <a:picLocks noChangeAspect="1"/>
          </p:cNvPicPr>
          <p:nvPr/>
        </p:nvPicPr>
        <p:blipFill>
          <a:blip r:embed="rId2"/>
          <a:stretch>
            <a:fillRect/>
          </a:stretch>
        </p:blipFill>
        <p:spPr>
          <a:xfrm>
            <a:off x="745720" y="2222285"/>
            <a:ext cx="6008560" cy="3355429"/>
          </a:xfrm>
          <a:prstGeom prst="rect">
            <a:avLst/>
          </a:prstGeom>
        </p:spPr>
      </p:pic>
      <p:sp>
        <p:nvSpPr>
          <p:cNvPr id="10" name="TextBox 9"/>
          <p:cNvSpPr txBox="1"/>
          <p:nvPr/>
        </p:nvSpPr>
        <p:spPr>
          <a:xfrm>
            <a:off x="7200000" y="2500000"/>
            <a:ext cx="4400000" cy="2800000"/>
          </a:xfrm>
          <a:prstGeom prst="rect">
            <a:avLst/>
          </a:prstGeom>
          <a:noFill/>
        </p:spPr>
        <p:txBody>
          <a:bodyPr wrap="square" lIns="0" rIns="0" tIns="0" bIns="0">
            <a:spAutoFit/>
          </a:bodyPr>
          <a:lstStyle/>
          <a:p>
            <a:pPr>
              <a:lnSpc>
                <a:spcPct val="120000"/>
              </a:lnSpc>
              <a:spcAft>
                <a:spcPts val="2600"/>
              </a:spcAft>
            </a:pPr>
            <a:r>
              <a:rPr sz="3000" b="0">
                <a:solidFill>
                  <a:srgbClr val="212121"/>
                </a:solidFill>
                <a:latin typeface="Yu Gothic"/>
              </a:rPr>
              <a:t>・ 今日の問題にすぐ挑戦</a:t>
            </a:r>
          </a:p>
          <a:p>
            <a:pPr>
              <a:lnSpc>
                <a:spcPct val="120000"/>
              </a:lnSpc>
              <a:spcAft>
                <a:spcPts val="2600"/>
              </a:spcAft>
            </a:pPr>
            <a:r>
              <a:rPr sz="3000" b="0">
                <a:solidFill>
                  <a:srgbClr val="212121"/>
                </a:solidFill>
                <a:latin typeface="Yu Gothic"/>
              </a:rPr>
              <a:t>・ 問題集・ランキングへ移動</a:t>
            </a:r>
          </a:p>
          <a:p>
            <a:pPr>
              <a:lnSpc>
                <a:spcPct val="120000"/>
              </a:lnSpc>
              <a:spcAft>
                <a:spcPts val="2600"/>
              </a:spcAft>
            </a:pPr>
            <a:r>
              <a:rPr sz="3000" b="0">
                <a:solidFill>
                  <a:srgbClr val="212121"/>
                </a:solidFill>
                <a:latin typeface="Yu Gothic"/>
              </a:rPr>
              <a:t>・ ログインで記録を管理</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9. 画面紹介：問題集</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9</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Rounded Rectangle 7"/>
          <p:cNvSpPr/>
          <p:nvPr/>
        </p:nvSpPr>
        <p:spPr>
          <a:xfrm>
            <a:off x="700000" y="1450000"/>
            <a:ext cx="6100000" cy="4900000"/>
          </a:xfrm>
          <a:prstGeom prst="roundRect">
            <a:avLst/>
          </a:prstGeom>
          <a:solidFill>
            <a:srgbClr val="FFFFFF"/>
          </a:solidFill>
          <a:ln w="19050">
            <a:solidFill>
              <a:srgbClr val="F0AA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age3.png"/>
          <p:cNvPicPr>
            <a:picLocks noChangeAspect="1"/>
          </p:cNvPicPr>
          <p:nvPr/>
        </p:nvPicPr>
        <p:blipFill>
          <a:blip r:embed="rId2"/>
          <a:stretch>
            <a:fillRect/>
          </a:stretch>
        </p:blipFill>
        <p:spPr>
          <a:xfrm>
            <a:off x="1361132" y="1495720"/>
            <a:ext cx="4777735" cy="4808560"/>
          </a:xfrm>
          <a:prstGeom prst="rect">
            <a:avLst/>
          </a:prstGeom>
        </p:spPr>
      </p:pic>
      <p:sp>
        <p:nvSpPr>
          <p:cNvPr id="10" name="TextBox 9"/>
          <p:cNvSpPr txBox="1"/>
          <p:nvPr/>
        </p:nvSpPr>
        <p:spPr>
          <a:xfrm>
            <a:off x="7200000" y="2500000"/>
            <a:ext cx="4400000" cy="2800000"/>
          </a:xfrm>
          <a:prstGeom prst="rect">
            <a:avLst/>
          </a:prstGeom>
          <a:noFill/>
        </p:spPr>
        <p:txBody>
          <a:bodyPr wrap="square" lIns="0" rIns="0" tIns="0" bIns="0">
            <a:spAutoFit/>
          </a:bodyPr>
          <a:lstStyle/>
          <a:p>
            <a:pPr>
              <a:lnSpc>
                <a:spcPct val="120000"/>
              </a:lnSpc>
              <a:spcAft>
                <a:spcPts val="2600"/>
              </a:spcAft>
            </a:pPr>
            <a:r>
              <a:rPr sz="3000" b="0">
                <a:solidFill>
                  <a:srgbClr val="212121"/>
                </a:solidFill>
                <a:latin typeface="Yu Gothic"/>
              </a:rPr>
              <a:t>・ 過去の問題をいつでも復習</a:t>
            </a:r>
          </a:p>
          <a:p>
            <a:pPr>
              <a:lnSpc>
                <a:spcPct val="120000"/>
              </a:lnSpc>
              <a:spcAft>
                <a:spcPts val="2600"/>
              </a:spcAft>
            </a:pPr>
            <a:r>
              <a:rPr sz="3000" b="0">
                <a:solidFill>
                  <a:srgbClr val="212121"/>
                </a:solidFill>
                <a:latin typeface="Yu Gothic"/>
              </a:rPr>
              <a:t>・ レベル別に探しやすい</a:t>
            </a:r>
          </a:p>
          <a:p>
            <a:pPr>
              <a:lnSpc>
                <a:spcPct val="120000"/>
              </a:lnSpc>
              <a:spcAft>
                <a:spcPts val="2600"/>
              </a:spcAft>
            </a:pPr>
            <a:r>
              <a:rPr sz="3000" b="0">
                <a:solidFill>
                  <a:srgbClr val="212121"/>
                </a:solidFill>
                <a:latin typeface="Yu Gothic"/>
              </a:rPr>
              <a:t>・ 継続学習につながる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10. 画面紹介：プレイ画面</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10</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Rounded Rectangle 7"/>
          <p:cNvSpPr/>
          <p:nvPr/>
        </p:nvSpPr>
        <p:spPr>
          <a:xfrm>
            <a:off x="700000" y="1450000"/>
            <a:ext cx="6100000" cy="4900000"/>
          </a:xfrm>
          <a:prstGeom prst="roundRect">
            <a:avLst/>
          </a:prstGeom>
          <a:solidFill>
            <a:srgbClr val="FFFFFF"/>
          </a:solidFill>
          <a:ln w="19050">
            <a:solidFill>
              <a:srgbClr val="F0AA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age4.png"/>
          <p:cNvPicPr>
            <a:picLocks noChangeAspect="1"/>
          </p:cNvPicPr>
          <p:nvPr/>
        </p:nvPicPr>
        <p:blipFill>
          <a:blip r:embed="rId2"/>
          <a:stretch>
            <a:fillRect/>
          </a:stretch>
        </p:blipFill>
        <p:spPr>
          <a:xfrm>
            <a:off x="923777" y="1495720"/>
            <a:ext cx="5652446" cy="4808560"/>
          </a:xfrm>
          <a:prstGeom prst="rect">
            <a:avLst/>
          </a:prstGeom>
        </p:spPr>
      </p:pic>
      <p:sp>
        <p:nvSpPr>
          <p:cNvPr id="10" name="TextBox 9"/>
          <p:cNvSpPr txBox="1"/>
          <p:nvPr/>
        </p:nvSpPr>
        <p:spPr>
          <a:xfrm>
            <a:off x="7200000" y="2500000"/>
            <a:ext cx="4400000" cy="2800000"/>
          </a:xfrm>
          <a:prstGeom prst="rect">
            <a:avLst/>
          </a:prstGeom>
          <a:noFill/>
        </p:spPr>
        <p:txBody>
          <a:bodyPr wrap="square" lIns="0" rIns="0" tIns="0" bIns="0">
            <a:spAutoFit/>
          </a:bodyPr>
          <a:lstStyle/>
          <a:p>
            <a:pPr>
              <a:lnSpc>
                <a:spcPct val="120000"/>
              </a:lnSpc>
              <a:spcAft>
                <a:spcPts val="2600"/>
              </a:spcAft>
            </a:pPr>
            <a:r>
              <a:rPr sz="3000" b="0">
                <a:solidFill>
                  <a:srgbClr val="212121"/>
                </a:solidFill>
                <a:latin typeface="Yu Gothic"/>
              </a:rPr>
              <a:t>・ 盤面を見て一手を考える</a:t>
            </a:r>
          </a:p>
          <a:p>
            <a:pPr>
              <a:lnSpc>
                <a:spcPct val="120000"/>
              </a:lnSpc>
              <a:spcAft>
                <a:spcPts val="2600"/>
              </a:spcAft>
            </a:pPr>
            <a:r>
              <a:rPr sz="3000" b="0">
                <a:solidFill>
                  <a:srgbClr val="212121"/>
                </a:solidFill>
                <a:latin typeface="Yu Gothic"/>
              </a:rPr>
              <a:t>・ 持ち駒を選んで指す</a:t>
            </a:r>
          </a:p>
          <a:p>
            <a:pPr>
              <a:lnSpc>
                <a:spcPct val="120000"/>
              </a:lnSpc>
              <a:spcAft>
                <a:spcPts val="2600"/>
              </a:spcAft>
            </a:pPr>
            <a:r>
              <a:rPr sz="3000" b="0">
                <a:solidFill>
                  <a:srgbClr val="212121"/>
                </a:solidFill>
                <a:latin typeface="Yu Gothic"/>
              </a:rPr>
              <a:t>・ ヒントで詰まらず進める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11. 画面紹介：盤面の見方</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11</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Rounded Rectangle 7"/>
          <p:cNvSpPr/>
          <p:nvPr/>
        </p:nvSpPr>
        <p:spPr>
          <a:xfrm>
            <a:off x="700000" y="1450000"/>
            <a:ext cx="6100000" cy="4900000"/>
          </a:xfrm>
          <a:prstGeom prst="roundRect">
            <a:avLst/>
          </a:prstGeom>
          <a:solidFill>
            <a:srgbClr val="FFFFFF"/>
          </a:solidFill>
          <a:ln w="19050">
            <a:solidFill>
              <a:srgbClr val="F0AA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age5.png"/>
          <p:cNvPicPr>
            <a:picLocks noChangeAspect="1"/>
          </p:cNvPicPr>
          <p:nvPr/>
        </p:nvPicPr>
        <p:blipFill>
          <a:blip r:embed="rId2"/>
          <a:stretch>
            <a:fillRect/>
          </a:stretch>
        </p:blipFill>
        <p:spPr>
          <a:xfrm>
            <a:off x="1718798" y="1495720"/>
            <a:ext cx="4062404" cy="4808560"/>
          </a:xfrm>
          <a:prstGeom prst="rect">
            <a:avLst/>
          </a:prstGeom>
        </p:spPr>
      </p:pic>
      <p:sp>
        <p:nvSpPr>
          <p:cNvPr id="10" name="TextBox 9"/>
          <p:cNvSpPr txBox="1"/>
          <p:nvPr/>
        </p:nvSpPr>
        <p:spPr>
          <a:xfrm>
            <a:off x="7200000" y="2500000"/>
            <a:ext cx="4400000" cy="2800000"/>
          </a:xfrm>
          <a:prstGeom prst="rect">
            <a:avLst/>
          </a:prstGeom>
          <a:noFill/>
        </p:spPr>
        <p:txBody>
          <a:bodyPr wrap="square" lIns="0" rIns="0" tIns="0" bIns="0">
            <a:spAutoFit/>
          </a:bodyPr>
          <a:lstStyle/>
          <a:p>
            <a:pPr>
              <a:lnSpc>
                <a:spcPct val="120000"/>
              </a:lnSpc>
              <a:spcAft>
                <a:spcPts val="2600"/>
              </a:spcAft>
            </a:pPr>
            <a:r>
              <a:rPr sz="3000" b="0">
                <a:solidFill>
                  <a:srgbClr val="212121"/>
                </a:solidFill>
                <a:latin typeface="Yu Gothic"/>
              </a:rPr>
              <a:t>・ 玉の位置と守りの駒に注目</a:t>
            </a:r>
          </a:p>
          <a:p>
            <a:pPr>
              <a:lnSpc>
                <a:spcPct val="120000"/>
              </a:lnSpc>
              <a:spcAft>
                <a:spcPts val="2600"/>
              </a:spcAft>
            </a:pPr>
            <a:r>
              <a:rPr sz="3000" b="0">
                <a:solidFill>
                  <a:srgbClr val="212121"/>
                </a:solidFill>
                <a:latin typeface="Yu Gothic"/>
              </a:rPr>
              <a:t>・ 持ち駒を使ってどこに打つか考える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12. 画面紹介：ヒント機能</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12</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Rounded Rectangle 7"/>
          <p:cNvSpPr/>
          <p:nvPr/>
        </p:nvSpPr>
        <p:spPr>
          <a:xfrm>
            <a:off x="700000" y="1450000"/>
            <a:ext cx="6100000" cy="4900000"/>
          </a:xfrm>
          <a:prstGeom prst="roundRect">
            <a:avLst/>
          </a:prstGeom>
          <a:solidFill>
            <a:srgbClr val="FFFFFF"/>
          </a:solidFill>
          <a:ln w="19050">
            <a:solidFill>
              <a:srgbClr val="F0AA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age6.png"/>
          <p:cNvPicPr>
            <a:picLocks noChangeAspect="1"/>
          </p:cNvPicPr>
          <p:nvPr/>
        </p:nvPicPr>
        <p:blipFill>
          <a:blip r:embed="rId2"/>
          <a:stretch>
            <a:fillRect/>
          </a:stretch>
        </p:blipFill>
        <p:spPr>
          <a:xfrm>
            <a:off x="745720" y="2493741"/>
            <a:ext cx="6008560" cy="2812517"/>
          </a:xfrm>
          <a:prstGeom prst="rect">
            <a:avLst/>
          </a:prstGeom>
        </p:spPr>
      </p:pic>
      <p:sp>
        <p:nvSpPr>
          <p:cNvPr id="10" name="TextBox 9"/>
          <p:cNvSpPr txBox="1"/>
          <p:nvPr/>
        </p:nvSpPr>
        <p:spPr>
          <a:xfrm>
            <a:off x="7200000" y="2500000"/>
            <a:ext cx="4400000" cy="2800000"/>
          </a:xfrm>
          <a:prstGeom prst="rect">
            <a:avLst/>
          </a:prstGeom>
          <a:noFill/>
        </p:spPr>
        <p:txBody>
          <a:bodyPr wrap="square" lIns="0" rIns="0" tIns="0" bIns="0">
            <a:spAutoFit/>
          </a:bodyPr>
          <a:lstStyle/>
          <a:p>
            <a:pPr>
              <a:lnSpc>
                <a:spcPct val="120000"/>
              </a:lnSpc>
              <a:spcAft>
                <a:spcPts val="2600"/>
              </a:spcAft>
            </a:pPr>
            <a:r>
              <a:rPr sz="3000" b="0">
                <a:solidFill>
                  <a:srgbClr val="212121"/>
                </a:solidFill>
                <a:latin typeface="Yu Gothic"/>
              </a:rPr>
              <a:t>・ 分からない時に次の一手のきっかけに</a:t>
            </a:r>
          </a:p>
          <a:p>
            <a:pPr>
              <a:lnSpc>
                <a:spcPct val="120000"/>
              </a:lnSpc>
              <a:spcAft>
                <a:spcPts val="2600"/>
              </a:spcAft>
            </a:pPr>
            <a:r>
              <a:rPr sz="3000" b="0">
                <a:solidFill>
                  <a:srgbClr val="212121"/>
                </a:solidFill>
                <a:latin typeface="Yu Gothic"/>
              </a:rPr>
              <a:t>・ 初心者でも止まらず進められる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13. 画面紹介：デイリーチャレンジ</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13</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Rounded Rectangle 7"/>
          <p:cNvSpPr/>
          <p:nvPr/>
        </p:nvSpPr>
        <p:spPr>
          <a:xfrm>
            <a:off x="700000" y="1450000"/>
            <a:ext cx="6100000" cy="4900000"/>
          </a:xfrm>
          <a:prstGeom prst="roundRect">
            <a:avLst/>
          </a:prstGeom>
          <a:solidFill>
            <a:srgbClr val="FFFFFF"/>
          </a:solidFill>
          <a:ln w="19050">
            <a:solidFill>
              <a:srgbClr val="F0AA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age7.png"/>
          <p:cNvPicPr>
            <a:picLocks noChangeAspect="1"/>
          </p:cNvPicPr>
          <p:nvPr/>
        </p:nvPicPr>
        <p:blipFill>
          <a:blip r:embed="rId2"/>
          <a:stretch>
            <a:fillRect/>
          </a:stretch>
        </p:blipFill>
        <p:spPr>
          <a:xfrm>
            <a:off x="1438192" y="1495720"/>
            <a:ext cx="4623615" cy="4808560"/>
          </a:xfrm>
          <a:prstGeom prst="rect">
            <a:avLst/>
          </a:prstGeom>
        </p:spPr>
      </p:pic>
      <p:sp>
        <p:nvSpPr>
          <p:cNvPr id="10" name="TextBox 9"/>
          <p:cNvSpPr txBox="1"/>
          <p:nvPr/>
        </p:nvSpPr>
        <p:spPr>
          <a:xfrm>
            <a:off x="7200000" y="2500000"/>
            <a:ext cx="4400000" cy="2800000"/>
          </a:xfrm>
          <a:prstGeom prst="rect">
            <a:avLst/>
          </a:prstGeom>
          <a:noFill/>
        </p:spPr>
        <p:txBody>
          <a:bodyPr wrap="square" lIns="0" rIns="0" tIns="0" bIns="0">
            <a:spAutoFit/>
          </a:bodyPr>
          <a:lstStyle/>
          <a:p>
            <a:pPr>
              <a:lnSpc>
                <a:spcPct val="120000"/>
              </a:lnSpc>
              <a:spcAft>
                <a:spcPts val="2600"/>
              </a:spcAft>
            </a:pPr>
            <a:r>
              <a:rPr sz="3000" b="0">
                <a:solidFill>
                  <a:srgbClr val="212121"/>
                </a:solidFill>
                <a:latin typeface="Yu Gothic"/>
              </a:rPr>
              <a:t>・ 毎日1問、新しい問題に挑戦</a:t>
            </a:r>
          </a:p>
          <a:p>
            <a:pPr>
              <a:lnSpc>
                <a:spcPct val="120000"/>
              </a:lnSpc>
              <a:spcAft>
                <a:spcPts val="2600"/>
              </a:spcAft>
            </a:pPr>
            <a:r>
              <a:rPr sz="3000" b="0">
                <a:solidFill>
                  <a:srgbClr val="212121"/>
                </a:solidFill>
                <a:latin typeface="Yu Gothic"/>
              </a:rPr>
              <a:t>・ 続けやすく、成長しやすい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14. 画面紹介：結果・ランキング</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14</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Rounded Rectangle 7"/>
          <p:cNvSpPr/>
          <p:nvPr/>
        </p:nvSpPr>
        <p:spPr>
          <a:xfrm>
            <a:off x="700000" y="1450000"/>
            <a:ext cx="6100000" cy="4900000"/>
          </a:xfrm>
          <a:prstGeom prst="roundRect">
            <a:avLst/>
          </a:prstGeom>
          <a:solidFill>
            <a:srgbClr val="FFFFFF"/>
          </a:solidFill>
          <a:ln w="19050">
            <a:solidFill>
              <a:srgbClr val="F0AA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age8.png"/>
          <p:cNvPicPr>
            <a:picLocks noChangeAspect="1"/>
          </p:cNvPicPr>
          <p:nvPr/>
        </p:nvPicPr>
        <p:blipFill>
          <a:blip r:embed="rId2"/>
          <a:stretch>
            <a:fillRect/>
          </a:stretch>
        </p:blipFill>
        <p:spPr>
          <a:xfrm>
            <a:off x="745720" y="2773395"/>
            <a:ext cx="6008560" cy="2253210"/>
          </a:xfrm>
          <a:prstGeom prst="rect">
            <a:avLst/>
          </a:prstGeom>
        </p:spPr>
      </p:pic>
      <p:sp>
        <p:nvSpPr>
          <p:cNvPr id="10" name="TextBox 9"/>
          <p:cNvSpPr txBox="1"/>
          <p:nvPr/>
        </p:nvSpPr>
        <p:spPr>
          <a:xfrm>
            <a:off x="7200000" y="2500000"/>
            <a:ext cx="4400000" cy="2800000"/>
          </a:xfrm>
          <a:prstGeom prst="rect">
            <a:avLst/>
          </a:prstGeom>
          <a:noFill/>
        </p:spPr>
        <p:txBody>
          <a:bodyPr wrap="square" lIns="0" rIns="0" tIns="0" bIns="0">
            <a:spAutoFit/>
          </a:bodyPr>
          <a:lstStyle/>
          <a:p>
            <a:pPr>
              <a:lnSpc>
                <a:spcPct val="120000"/>
              </a:lnSpc>
              <a:spcAft>
                <a:spcPts val="2600"/>
              </a:spcAft>
            </a:pPr>
            <a:r>
              <a:rPr sz="3000" b="0">
                <a:solidFill>
                  <a:srgbClr val="212121"/>
                </a:solidFill>
                <a:latin typeface="Yu Gothic"/>
              </a:rPr>
              <a:t>・ スコア・正答率・解答時間・ヒント数</a:t>
            </a:r>
          </a:p>
          <a:p>
            <a:pPr>
              <a:lnSpc>
                <a:spcPct val="120000"/>
              </a:lnSpc>
              <a:spcAft>
                <a:spcPts val="2600"/>
              </a:spcAft>
            </a:pPr>
            <a:r>
              <a:rPr sz="3000" b="0">
                <a:solidFill>
                  <a:srgbClr val="212121"/>
                </a:solidFill>
                <a:latin typeface="Yu Gothic"/>
              </a:rPr>
              <a:t>・ 結果が見えると続けやすい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15. 工夫した点</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15</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Rounded Rectangle 7"/>
          <p:cNvSpPr/>
          <p:nvPr/>
        </p:nvSpPr>
        <p:spPr>
          <a:xfrm>
            <a:off x="700000" y="1600000"/>
            <a:ext cx="3450000" cy="1800000"/>
          </a:xfrm>
          <a:prstGeom prst="roundRect">
            <a:avLst/>
          </a:prstGeom>
          <a:solidFill>
            <a:srgbClr val="FDECD8"/>
          </a:solidFill>
          <a:ln w="19050">
            <a:solidFill>
              <a:srgbClr val="E670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212121"/>
                </a:solidFill>
                <a:latin typeface="Yu Gothic"/>
              </a:rPr>
              <a:t>見やすさ</a:t>
            </a:r>
          </a:p>
          <a:p>
            <a:pPr algn="ctr"/>
            <a:r>
              <a:rPr sz="2000" b="0">
                <a:solidFill>
                  <a:srgbClr val="5C5C5C"/>
                </a:solidFill>
                <a:latin typeface="Yu Gothic"/>
              </a:rPr>
              <a:t>画面を大きく表示</a:t>
            </a:r>
          </a:p>
        </p:txBody>
      </p:sp>
      <p:sp>
        <p:nvSpPr>
          <p:cNvPr id="9" name="Rounded Rectangle 8"/>
          <p:cNvSpPr/>
          <p:nvPr/>
        </p:nvSpPr>
        <p:spPr>
          <a:xfrm>
            <a:off x="4500000" y="1600000"/>
            <a:ext cx="3450000" cy="1800000"/>
          </a:xfrm>
          <a:prstGeom prst="roundRect">
            <a:avLst/>
          </a:prstGeom>
          <a:solidFill>
            <a:srgbClr val="FDECD8"/>
          </a:solidFill>
          <a:ln w="19050">
            <a:solidFill>
              <a:srgbClr val="E670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212121"/>
                </a:solidFill>
                <a:latin typeface="Yu Gothic"/>
              </a:rPr>
              <a:t>続けやすさ</a:t>
            </a:r>
          </a:p>
          <a:p>
            <a:pPr algn="ctr"/>
            <a:r>
              <a:rPr sz="2000" b="0">
                <a:solidFill>
                  <a:srgbClr val="5C5C5C"/>
                </a:solidFill>
                <a:latin typeface="Yu Gothic"/>
              </a:rPr>
              <a:t>毎日挑戦・ランキング</a:t>
            </a:r>
          </a:p>
        </p:txBody>
      </p:sp>
      <p:sp>
        <p:nvSpPr>
          <p:cNvPr id="10" name="Rounded Rectangle 9"/>
          <p:cNvSpPr/>
          <p:nvPr/>
        </p:nvSpPr>
        <p:spPr>
          <a:xfrm>
            <a:off x="8300000" y="1600000"/>
            <a:ext cx="3450000" cy="1800000"/>
          </a:xfrm>
          <a:prstGeom prst="roundRect">
            <a:avLst/>
          </a:prstGeom>
          <a:solidFill>
            <a:srgbClr val="FDECD8"/>
          </a:solidFill>
          <a:ln w="19050">
            <a:solidFill>
              <a:srgbClr val="E670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212121"/>
                </a:solidFill>
                <a:latin typeface="Yu Gothic"/>
              </a:rPr>
              <a:t>正確さ</a:t>
            </a:r>
          </a:p>
          <a:p>
            <a:pPr algn="ctr"/>
            <a:r>
              <a:rPr sz="2000" b="0">
                <a:solidFill>
                  <a:srgbClr val="5C5C5C"/>
                </a:solidFill>
                <a:latin typeface="Yu Gothic"/>
              </a:rPr>
              <a:t>正誤判定を重視</a:t>
            </a:r>
          </a:p>
        </p:txBody>
      </p:sp>
      <p:sp>
        <p:nvSpPr>
          <p:cNvPr id="11" name="TextBox 10"/>
          <p:cNvSpPr txBox="1"/>
          <p:nvPr/>
        </p:nvSpPr>
        <p:spPr>
          <a:xfrm>
            <a:off x="700000" y="3900000"/>
            <a:ext cx="10800000" cy="700000"/>
          </a:xfrm>
          <a:prstGeom prst="rect">
            <a:avLst/>
          </a:prstGeom>
          <a:noFill/>
        </p:spPr>
        <p:txBody>
          <a:bodyPr wrap="none" anchor="t" lIns="0" rIns="0" tIns="0" bIns="0">
            <a:spAutoFit/>
          </a:bodyPr>
          <a:lstStyle/>
          <a:p>
            <a:pPr algn="ctr">
              <a:lnSpc>
                <a:spcPct val="115000"/>
              </a:lnSpc>
            </a:pPr>
            <a:r>
              <a:rPr sz="2800" b="1">
                <a:solidFill>
                  <a:srgbClr val="212121"/>
                </a:solidFill>
                <a:latin typeface="Yu Gothic"/>
              </a:rPr>
              <a:t>初心者でも「分かる・続けられる」を意識</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16. 苦労した点</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16</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TextBox 7"/>
          <p:cNvSpPr txBox="1"/>
          <p:nvPr/>
        </p:nvSpPr>
        <p:spPr>
          <a:xfrm>
            <a:off x="900000" y="1500000"/>
            <a:ext cx="10400000" cy="4600000"/>
          </a:xfrm>
          <a:prstGeom prst="rect">
            <a:avLst/>
          </a:prstGeom>
          <a:noFill/>
        </p:spPr>
        <p:txBody>
          <a:bodyPr wrap="square" lIns="0" rIns="0" tIns="0" bIns="0">
            <a:spAutoFit/>
          </a:bodyPr>
          <a:lstStyle/>
          <a:p>
            <a:pPr>
              <a:lnSpc>
                <a:spcPct val="120000"/>
              </a:lnSpc>
              <a:spcAft>
                <a:spcPts val="2400"/>
              </a:spcAft>
            </a:pPr>
            <a:r>
              <a:rPr sz="2800" b="0">
                <a:solidFill>
                  <a:srgbClr val="212121"/>
                </a:solidFill>
                <a:latin typeface="Yu Gothic"/>
              </a:rPr>
              <a:t>・ SupabaseのAPIキーの新旧形式を取り違えて接続エラーが発生</a:t>
            </a:r>
          </a:p>
          <a:p>
            <a:pPr>
              <a:lnSpc>
                <a:spcPct val="120000"/>
              </a:lnSpc>
              <a:spcAft>
                <a:spcPts val="2400"/>
              </a:spcAft>
            </a:pPr>
            <a:r>
              <a:rPr sz="2800" b="0">
                <a:solidFill>
                  <a:srgbClr val="212121"/>
                </a:solidFill>
                <a:latin typeface="Yu Gothic"/>
              </a:rPr>
              <a:t>・ Netlifyの環境変数はキャッシュを消して再デプロイしないと反映されなかった</a:t>
            </a:r>
          </a:p>
          <a:p>
            <a:pPr>
              <a:lnSpc>
                <a:spcPct val="120000"/>
              </a:lnSpc>
              <a:spcAft>
                <a:spcPts val="2400"/>
              </a:spcAft>
            </a:pPr>
            <a:r>
              <a:rPr sz="2800" b="0">
                <a:solidFill>
                  <a:srgbClr val="212121"/>
                </a:solidFill>
                <a:latin typeface="Yu Gothic"/>
              </a:rPr>
              <a:t>・ 詰将棋の「余詰めチェック」で、一意性判定と存在判定を混同するバグを発見・修正</a:t>
            </a:r>
          </a:p>
          <a:p>
            <a:pPr>
              <a:lnSpc>
                <a:spcPct val="120000"/>
              </a:lnSpc>
              <a:spcAft>
                <a:spcPts val="2400"/>
              </a:spcAft>
            </a:pPr>
            <a:r>
              <a:rPr sz="2800" b="0">
                <a:solidFill>
                  <a:srgbClr val="212121"/>
                </a:solidFill>
                <a:latin typeface="Yu Gothic"/>
              </a:rPr>
              <a:t>・ 1手詰めの生成パターンが「頭金」に偏る問題を統計的に検証し是正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17. アピールポイント</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17</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TextBox 7"/>
          <p:cNvSpPr txBox="1"/>
          <p:nvPr/>
        </p:nvSpPr>
        <p:spPr>
          <a:xfrm>
            <a:off x="900000" y="1500000"/>
            <a:ext cx="10400000" cy="4700000"/>
          </a:xfrm>
          <a:prstGeom prst="rect">
            <a:avLst/>
          </a:prstGeom>
          <a:noFill/>
        </p:spPr>
        <p:txBody>
          <a:bodyPr wrap="square" lIns="0" rIns="0" tIns="0" bIns="0">
            <a:spAutoFit/>
          </a:bodyPr>
          <a:lstStyle/>
          <a:p>
            <a:pPr>
              <a:lnSpc>
                <a:spcPct val="120000"/>
              </a:lnSpc>
              <a:spcAft>
                <a:spcPts val="2200"/>
              </a:spcAft>
            </a:pPr>
            <a:r>
              <a:rPr sz="2800" b="0">
                <a:solidFill>
                  <a:srgbClr val="212121"/>
                </a:solidFill>
                <a:latin typeface="Yu Gothic"/>
              </a:rPr>
              <a:t>・ AI（LLM）を使わず、ルールベースの全探索で問題を自動生成</a:t>
            </a:r>
          </a:p>
          <a:p>
            <a:pPr>
              <a:lnSpc>
                <a:spcPct val="120000"/>
              </a:lnSpc>
              <a:spcAft>
                <a:spcPts val="2200"/>
              </a:spcAft>
            </a:pPr>
            <a:r>
              <a:rPr sz="2800" b="0">
                <a:solidFill>
                  <a:srgbClr val="212121"/>
                </a:solidFill>
                <a:latin typeface="Yu Gothic"/>
              </a:rPr>
              <a:t>・ 生成した問題は必ず「詰み手順が一意」であることを検証済み</a:t>
            </a:r>
          </a:p>
          <a:p>
            <a:pPr>
              <a:lnSpc>
                <a:spcPct val="120000"/>
              </a:lnSpc>
              <a:spcAft>
                <a:spcPts val="2200"/>
              </a:spcAft>
            </a:pPr>
            <a:r>
              <a:rPr sz="2800" b="0">
                <a:solidFill>
                  <a:srgbClr val="212121"/>
                </a:solidFill>
                <a:latin typeface="Yu Gothic"/>
              </a:rPr>
              <a:t>・ 難易度Lv.1／Lv.3／Lv.5で初心者から挑戦できる</a:t>
            </a:r>
          </a:p>
          <a:p>
            <a:pPr>
              <a:lnSpc>
                <a:spcPct val="120000"/>
              </a:lnSpc>
              <a:spcAft>
                <a:spcPts val="2200"/>
              </a:spcAft>
            </a:pPr>
            <a:r>
              <a:rPr sz="2800" b="0">
                <a:solidFill>
                  <a:srgbClr val="212121"/>
                </a:solidFill>
                <a:latin typeface="Yu Gothic"/>
              </a:rPr>
              <a:t>・ 指し手はサーバー側で毎回再検証し、不正な回答を防止</a:t>
            </a:r>
          </a:p>
          <a:p>
            <a:pPr>
              <a:lnSpc>
                <a:spcPct val="120000"/>
              </a:lnSpc>
              <a:spcAft>
                <a:spcPts val="2200"/>
              </a:spcAft>
            </a:pPr>
            <a:r>
              <a:rPr sz="2800" b="0">
                <a:solidFill>
                  <a:srgbClr val="212121"/>
                </a:solidFill>
                <a:latin typeface="Yu Gothic"/>
              </a:rPr>
              <a:t>・ デイリーチャレンジと7種のランキングで毎日続けたくなる設計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18. 実演（成果物紹介）</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18</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Rounded Rectangle 7"/>
          <p:cNvSpPr/>
          <p:nvPr/>
        </p:nvSpPr>
        <p:spPr>
          <a:xfrm>
            <a:off x="900000" y="1700000"/>
            <a:ext cx="3200000" cy="1800000"/>
          </a:xfrm>
          <a:prstGeom prst="roundRect">
            <a:avLst/>
          </a:prstGeom>
          <a:solidFill>
            <a:srgbClr val="FDECD8"/>
          </a:solidFill>
          <a:ln w="19050">
            <a:solidFill>
              <a:srgbClr val="E670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212121"/>
                </a:solidFill>
                <a:latin typeface="Yu Gothic"/>
              </a:rPr>
              <a:t>1. 選ぶ</a:t>
            </a:r>
          </a:p>
          <a:p>
            <a:pPr algn="ctr"/>
            <a:r>
              <a:rPr sz="2000" b="0">
                <a:solidFill>
                  <a:srgbClr val="5C5C5C"/>
                </a:solidFill>
                <a:latin typeface="Yu Gothic"/>
              </a:rPr>
              <a:t>問題を選択</a:t>
            </a:r>
          </a:p>
        </p:txBody>
      </p:sp>
      <p:cxnSp>
        <p:nvCxnSpPr>
          <p:cNvPr id="9" name="Connector 8"/>
          <p:cNvCxnSpPr/>
          <p:nvPr/>
        </p:nvCxnSpPr>
        <p:spPr>
          <a:xfrm>
            <a:off x="4100000" y="2600000"/>
            <a:ext cx="500000" cy="0"/>
          </a:xfrm>
          <a:prstGeom prst="line">
            <a:avLst/>
          </a:prstGeom>
          <a:ln w="31750">
            <a:solidFill>
              <a:srgbClr val="E67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600000" y="1700000"/>
            <a:ext cx="3200000" cy="1800000"/>
          </a:xfrm>
          <a:prstGeom prst="roundRect">
            <a:avLst/>
          </a:prstGeom>
          <a:solidFill>
            <a:srgbClr val="FDECD8"/>
          </a:solidFill>
          <a:ln w="19050">
            <a:solidFill>
              <a:srgbClr val="E670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212121"/>
                </a:solidFill>
                <a:latin typeface="Yu Gothic"/>
              </a:rPr>
              <a:t>2. 解く</a:t>
            </a:r>
          </a:p>
          <a:p>
            <a:pPr algn="ctr"/>
            <a:r>
              <a:rPr sz="2000" b="0">
                <a:solidFill>
                  <a:srgbClr val="5C5C5C"/>
                </a:solidFill>
                <a:latin typeface="Yu Gothic"/>
              </a:rPr>
              <a:t>一手を考える</a:t>
            </a:r>
          </a:p>
        </p:txBody>
      </p:sp>
      <p:cxnSp>
        <p:nvCxnSpPr>
          <p:cNvPr id="11" name="Connector 10"/>
          <p:cNvCxnSpPr/>
          <p:nvPr/>
        </p:nvCxnSpPr>
        <p:spPr>
          <a:xfrm>
            <a:off x="7800000" y="2600000"/>
            <a:ext cx="500000" cy="0"/>
          </a:xfrm>
          <a:prstGeom prst="line">
            <a:avLst/>
          </a:prstGeom>
          <a:ln w="31750">
            <a:solidFill>
              <a:srgbClr val="E67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300000" y="1700000"/>
            <a:ext cx="3200000" cy="1800000"/>
          </a:xfrm>
          <a:prstGeom prst="roundRect">
            <a:avLst/>
          </a:prstGeom>
          <a:solidFill>
            <a:srgbClr val="FDECD8"/>
          </a:solidFill>
          <a:ln w="19050">
            <a:solidFill>
              <a:srgbClr val="E670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212121"/>
                </a:solidFill>
                <a:latin typeface="Yu Gothic"/>
              </a:rPr>
              <a:t>3. 確認</a:t>
            </a:r>
          </a:p>
          <a:p>
            <a:pPr algn="ctr"/>
            <a:r>
              <a:rPr sz="2000" b="0">
                <a:solidFill>
                  <a:srgbClr val="5C5C5C"/>
                </a:solidFill>
                <a:latin typeface="Yu Gothic"/>
              </a:rPr>
              <a:t>結果を見る</a:t>
            </a:r>
          </a:p>
        </p:txBody>
      </p:sp>
      <p:sp>
        <p:nvSpPr>
          <p:cNvPr id="13" name="TextBox 12"/>
          <p:cNvSpPr txBox="1"/>
          <p:nvPr/>
        </p:nvSpPr>
        <p:spPr>
          <a:xfrm>
            <a:off x="700000" y="4100000"/>
            <a:ext cx="10800000" cy="700000"/>
          </a:xfrm>
          <a:prstGeom prst="rect">
            <a:avLst/>
          </a:prstGeom>
          <a:noFill/>
        </p:spPr>
        <p:txBody>
          <a:bodyPr wrap="none" anchor="t" lIns="0" rIns="0" tIns="0" bIns="0">
            <a:spAutoFit/>
          </a:bodyPr>
          <a:lstStyle/>
          <a:p>
            <a:pPr algn="ctr">
              <a:lnSpc>
                <a:spcPct val="115000"/>
              </a:lnSpc>
            </a:pPr>
            <a:r>
              <a:rPr sz="2400" b="1">
                <a:solidFill>
                  <a:srgbClr val="212121"/>
                </a:solidFill>
                <a:latin typeface="Yu Gothic"/>
              </a:rPr>
              <a:t>誰でも使える簡単操作 — ここで実際の画面を操作してご覧に入れます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19. 課題</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19</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TextBox 7"/>
          <p:cNvSpPr txBox="1"/>
          <p:nvPr/>
        </p:nvSpPr>
        <p:spPr>
          <a:xfrm>
            <a:off x="900000" y="1500000"/>
            <a:ext cx="10400000" cy="4500000"/>
          </a:xfrm>
          <a:prstGeom prst="rect">
            <a:avLst/>
          </a:prstGeom>
          <a:noFill/>
        </p:spPr>
        <p:txBody>
          <a:bodyPr wrap="square" lIns="0" rIns="0" tIns="0" bIns="0">
            <a:spAutoFit/>
          </a:bodyPr>
          <a:lstStyle/>
          <a:p>
            <a:pPr>
              <a:lnSpc>
                <a:spcPct val="120000"/>
              </a:lnSpc>
              <a:spcAft>
                <a:spcPts val="2600"/>
              </a:spcAft>
            </a:pPr>
            <a:r>
              <a:rPr sz="2800" b="0">
                <a:solidFill>
                  <a:srgbClr val="212121"/>
                </a:solidFill>
                <a:latin typeface="Yu Gothic"/>
              </a:rPr>
              <a:t>・ AI解説文の自動生成（現状は定型文での解説）</a:t>
            </a:r>
          </a:p>
          <a:p>
            <a:pPr>
              <a:lnSpc>
                <a:spcPct val="120000"/>
              </a:lnSpc>
              <a:spcAft>
                <a:spcPts val="2600"/>
              </a:spcAft>
            </a:pPr>
            <a:r>
              <a:rPr sz="2800" b="0">
                <a:solidFill>
                  <a:srgbClr val="212121"/>
                </a:solidFill>
                <a:latin typeface="Yu Gothic"/>
              </a:rPr>
              <a:t>・ 称号・バッジ機能は未実装</a:t>
            </a:r>
          </a:p>
          <a:p>
            <a:pPr>
              <a:lnSpc>
                <a:spcPct val="120000"/>
              </a:lnSpc>
              <a:spcAft>
                <a:spcPts val="2600"/>
              </a:spcAft>
            </a:pPr>
            <a:r>
              <a:rPr sz="2800" b="0">
                <a:solidFill>
                  <a:srgbClr val="212121"/>
                </a:solidFill>
                <a:latin typeface="Yu Gothic"/>
              </a:rPr>
              <a:t>・ 問題を管理する管理者画面が未実装</a:t>
            </a:r>
          </a:p>
          <a:p>
            <a:pPr>
              <a:lnSpc>
                <a:spcPct val="120000"/>
              </a:lnSpc>
              <a:spcAft>
                <a:spcPts val="2600"/>
              </a:spcAft>
            </a:pPr>
            <a:r>
              <a:rPr sz="2800" b="0">
                <a:solidFill>
                  <a:srgbClr val="212121"/>
                </a:solidFill>
                <a:latin typeface="Yu Gothic"/>
              </a:rPr>
              <a:t>・ 詰将棋の「無駄合」の厳密な判定には未対応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20. 今後の展望</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20</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TextBox 7"/>
          <p:cNvSpPr txBox="1"/>
          <p:nvPr/>
        </p:nvSpPr>
        <p:spPr>
          <a:xfrm>
            <a:off x="900000" y="1500000"/>
            <a:ext cx="10400000" cy="4500000"/>
          </a:xfrm>
          <a:prstGeom prst="rect">
            <a:avLst/>
          </a:prstGeom>
          <a:noFill/>
        </p:spPr>
        <p:txBody>
          <a:bodyPr wrap="square" lIns="0" rIns="0" tIns="0" bIns="0">
            <a:spAutoFit/>
          </a:bodyPr>
          <a:lstStyle/>
          <a:p>
            <a:pPr>
              <a:lnSpc>
                <a:spcPct val="120000"/>
              </a:lnSpc>
              <a:spcAft>
                <a:spcPts val="2600"/>
              </a:spcAft>
            </a:pPr>
            <a:r>
              <a:rPr sz="2800" b="0">
                <a:solidFill>
                  <a:srgbClr val="212121"/>
                </a:solidFill>
                <a:latin typeface="Yu Gothic"/>
              </a:rPr>
              <a:t>・ 解説文の自動生成をAIで高度化</a:t>
            </a:r>
          </a:p>
          <a:p>
            <a:pPr>
              <a:lnSpc>
                <a:spcPct val="120000"/>
              </a:lnSpc>
              <a:spcAft>
                <a:spcPts val="2600"/>
              </a:spcAft>
            </a:pPr>
            <a:r>
              <a:rPr sz="2800" b="0">
                <a:solidFill>
                  <a:srgbClr val="212121"/>
                </a:solidFill>
                <a:latin typeface="Yu Gothic"/>
              </a:rPr>
              <a:t>・ 称号・バッジで達成感をさらに強化</a:t>
            </a:r>
          </a:p>
          <a:p>
            <a:pPr>
              <a:lnSpc>
                <a:spcPct val="120000"/>
              </a:lnSpc>
              <a:spcAft>
                <a:spcPts val="2600"/>
              </a:spcAft>
            </a:pPr>
            <a:r>
              <a:rPr sz="2800" b="0">
                <a:solidFill>
                  <a:srgbClr val="212121"/>
                </a:solidFill>
                <a:latin typeface="Yu Gothic"/>
              </a:rPr>
              <a:t>・ 管理者画面を整備し、問題管理を効率化</a:t>
            </a:r>
          </a:p>
          <a:p>
            <a:pPr>
              <a:lnSpc>
                <a:spcPct val="120000"/>
              </a:lnSpc>
              <a:spcAft>
                <a:spcPts val="2600"/>
              </a:spcAft>
            </a:pPr>
            <a:r>
              <a:rPr sz="2800" b="0">
                <a:solidFill>
                  <a:srgbClr val="212121"/>
                </a:solidFill>
                <a:latin typeface="Yu Gothic"/>
              </a:rPr>
              <a:t>・ スマートフォンでの操作性をさらに最適化</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458200" y="164592"/>
            <a:ext cx="2423160" cy="274320"/>
          </a:xfrm>
          <a:prstGeom prst="rect">
            <a:avLst/>
          </a:prstGeom>
          <a:noFill/>
        </p:spPr>
        <p:txBody>
          <a:bodyPr wrap="none" anchor="t" lIns="0" rIns="0" tIns="0" bIns="0">
            <a:spAutoFit/>
          </a:bodyPr>
          <a:lstStyle/>
          <a:p>
            <a:pPr algn="r">
              <a:lnSpc>
                <a:spcPct val="115000"/>
              </a:lnSpc>
            </a:pPr>
            <a:r>
              <a:rPr sz="1000" b="0">
                <a:solidFill>
                  <a:srgbClr val="5C5C5C"/>
                </a:solidFill>
                <a:latin typeface="Yu Gothic"/>
              </a:rPr>
              <a:t>チーム：ねるねるねるね</a:t>
            </a:r>
          </a:p>
        </p:txBody>
      </p:sp>
      <p:sp>
        <p:nvSpPr>
          <p:cNvPr id="3" name="TextBox 2"/>
          <p:cNvSpPr txBox="1"/>
          <p:nvPr/>
        </p:nvSpPr>
        <p:spPr>
          <a:xfrm>
            <a:off x="411480" y="300000"/>
            <a:ext cx="9500000" cy="560000"/>
          </a:xfrm>
          <a:prstGeom prst="rect">
            <a:avLst/>
          </a:prstGeom>
          <a:noFill/>
        </p:spPr>
        <p:txBody>
          <a:bodyPr wrap="none" anchor="t" lIns="0" rIns="0" tIns="0" bIns="0">
            <a:spAutoFit/>
          </a:bodyPr>
          <a:lstStyle/>
          <a:p>
            <a:pPr algn="l">
              <a:lnSpc>
                <a:spcPct val="115000"/>
              </a:lnSpc>
            </a:pPr>
            <a:r>
              <a:rPr sz="3600" b="1">
                <a:solidFill>
                  <a:srgbClr val="212121"/>
                </a:solidFill>
                <a:latin typeface="Yu Gothic"/>
              </a:rPr>
              <a:t>21. まとめ</a:t>
            </a:r>
          </a:p>
        </p:txBody>
      </p:sp>
      <p:sp>
        <p:nvSpPr>
          <p:cNvPr id="4" name="Rectangle 3"/>
          <p:cNvSpPr/>
          <p:nvPr/>
        </p:nvSpPr>
        <p:spPr>
          <a:xfrm>
            <a:off x="411480" y="914400"/>
            <a:ext cx="10789920" cy="22860"/>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01400" y="292608"/>
            <a:ext cx="384048" cy="384048"/>
          </a:xfrm>
          <a:prstGeom prst="ellipse">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Yu Gothic"/>
              </a:rPr>
              <a:t>21</a:t>
            </a:r>
          </a:p>
        </p:txBody>
      </p:sp>
      <p:sp>
        <p:nvSpPr>
          <p:cNvPr id="6" name="Rectangle 5"/>
          <p:cNvSpPr/>
          <p:nvPr/>
        </p:nvSpPr>
        <p:spPr>
          <a:xfrm>
            <a:off x="0" y="6565392"/>
            <a:ext cx="12191695" cy="292608"/>
          </a:xfrm>
          <a:prstGeom prst="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6601968"/>
            <a:ext cx="3657600" cy="201168"/>
          </a:xfrm>
          <a:prstGeom prst="rect">
            <a:avLst/>
          </a:prstGeom>
          <a:noFill/>
        </p:spPr>
        <p:txBody>
          <a:bodyPr wrap="none" anchor="t" lIns="0" rIns="0" tIns="0" bIns="0">
            <a:spAutoFit/>
          </a:bodyPr>
          <a:lstStyle/>
          <a:p>
            <a:pPr algn="ctr">
              <a:lnSpc>
                <a:spcPct val="115000"/>
              </a:lnSpc>
            </a:pPr>
            <a:r>
              <a:rPr sz="800" b="1">
                <a:solidFill>
                  <a:srgbClr val="FFFFFF"/>
                </a:solidFill>
                <a:latin typeface="Yu Gothic"/>
              </a:rPr>
              <a:t>AI詰将棋トレーナー　発表資料</a:t>
            </a:r>
          </a:p>
        </p:txBody>
      </p:sp>
      <p:sp>
        <p:nvSpPr>
          <p:cNvPr id="8" name="TextBox 7"/>
          <p:cNvSpPr txBox="1"/>
          <p:nvPr/>
        </p:nvSpPr>
        <p:spPr>
          <a:xfrm>
            <a:off x="900000" y="1500000"/>
            <a:ext cx="10400000" cy="900000"/>
          </a:xfrm>
          <a:prstGeom prst="rect">
            <a:avLst/>
          </a:prstGeom>
          <a:noFill/>
        </p:spPr>
        <p:txBody>
          <a:bodyPr wrap="none" anchor="t" lIns="0" rIns="0" tIns="0" bIns="0">
            <a:spAutoFit/>
          </a:bodyPr>
          <a:lstStyle/>
          <a:p>
            <a:pPr algn="ctr">
              <a:lnSpc>
                <a:spcPct val="115000"/>
              </a:lnSpc>
            </a:pPr>
            <a:r>
              <a:rPr sz="2800" b="1">
                <a:solidFill>
                  <a:srgbClr val="212121"/>
                </a:solidFill>
                <a:latin typeface="Yu Gothic"/>
              </a:rPr>
              <a:t>AI詰将棋トレーナーは、誰でも手軽に</a:t>
            </a:r>
          </a:p>
          <a:p>
            <a:pPr algn="ctr">
              <a:lnSpc>
                <a:spcPct val="115000"/>
              </a:lnSpc>
            </a:pPr>
            <a:r>
              <a:rPr sz="2800" b="1">
                <a:solidFill>
                  <a:srgbClr val="212121"/>
                </a:solidFill>
                <a:latin typeface="Yu Gothic"/>
              </a:rPr>
              <a:t>詰将棋を学べるWebアプリです。</a:t>
            </a:r>
          </a:p>
        </p:txBody>
      </p:sp>
      <p:sp>
        <p:nvSpPr>
          <p:cNvPr id="9" name="Rounded Rectangle 8"/>
          <p:cNvSpPr/>
          <p:nvPr/>
        </p:nvSpPr>
        <p:spPr>
          <a:xfrm>
            <a:off x="1600000" y="3000000"/>
            <a:ext cx="4200000" cy="650000"/>
          </a:xfrm>
          <a:prstGeom prst="round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200" b="1">
                <a:solidFill>
                  <a:srgbClr val="FFFFFF"/>
                </a:solidFill>
                <a:latin typeface="Yu Gothic"/>
              </a:rPr>
              <a:t>実現できたこと</a:t>
            </a:r>
          </a:p>
        </p:txBody>
      </p:sp>
      <p:sp>
        <p:nvSpPr>
          <p:cNvPr id="10" name="TextBox 9"/>
          <p:cNvSpPr txBox="1"/>
          <p:nvPr/>
        </p:nvSpPr>
        <p:spPr>
          <a:xfrm>
            <a:off x="1600000" y="3750000"/>
            <a:ext cx="4200000" cy="700000"/>
          </a:xfrm>
          <a:prstGeom prst="rect">
            <a:avLst/>
          </a:prstGeom>
          <a:noFill/>
        </p:spPr>
        <p:txBody>
          <a:bodyPr wrap="none" anchor="t" lIns="0" rIns="0" tIns="0" bIns="0">
            <a:spAutoFit/>
          </a:bodyPr>
          <a:lstStyle/>
          <a:p>
            <a:pPr algn="ctr">
              <a:lnSpc>
                <a:spcPct val="115000"/>
              </a:lnSpc>
            </a:pPr>
            <a:r>
              <a:rPr sz="2000" b="0">
                <a:solidFill>
                  <a:srgbClr val="212121"/>
                </a:solidFill>
                <a:latin typeface="Yu Gothic"/>
              </a:rPr>
              <a:t>挑戦・ヒント・記録</a:t>
            </a:r>
          </a:p>
        </p:txBody>
      </p:sp>
      <p:sp>
        <p:nvSpPr>
          <p:cNvPr id="11" name="Rounded Rectangle 10"/>
          <p:cNvSpPr/>
          <p:nvPr/>
        </p:nvSpPr>
        <p:spPr>
          <a:xfrm>
            <a:off x="6400000" y="3000000"/>
            <a:ext cx="4200000" cy="650000"/>
          </a:xfrm>
          <a:prstGeom prst="roundRect">
            <a:avLst/>
          </a:prstGeom>
          <a:solidFill>
            <a:srgbClr val="E67000"/>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200" b="1">
                <a:solidFill>
                  <a:srgbClr val="FFFFFF"/>
                </a:solidFill>
                <a:latin typeface="Yu Gothic"/>
              </a:rPr>
              <a:t>今後の改善</a:t>
            </a:r>
          </a:p>
        </p:txBody>
      </p:sp>
      <p:sp>
        <p:nvSpPr>
          <p:cNvPr id="12" name="TextBox 11"/>
          <p:cNvSpPr txBox="1"/>
          <p:nvPr/>
        </p:nvSpPr>
        <p:spPr>
          <a:xfrm>
            <a:off x="6400000" y="3750000"/>
            <a:ext cx="4200000" cy="700000"/>
          </a:xfrm>
          <a:prstGeom prst="rect">
            <a:avLst/>
          </a:prstGeom>
          <a:noFill/>
        </p:spPr>
        <p:txBody>
          <a:bodyPr wrap="none" anchor="t" lIns="0" rIns="0" tIns="0" bIns="0">
            <a:spAutoFit/>
          </a:bodyPr>
          <a:lstStyle/>
          <a:p>
            <a:pPr algn="ctr">
              <a:lnSpc>
                <a:spcPct val="115000"/>
              </a:lnSpc>
            </a:pPr>
            <a:r>
              <a:rPr sz="2000" b="0">
                <a:solidFill>
                  <a:srgbClr val="212121"/>
                </a:solidFill>
                <a:latin typeface="Yu Gothic"/>
              </a:rPr>
              <a:t>問題追加・スマホ最適化</a:t>
            </a:r>
          </a:p>
        </p:txBody>
      </p:sp>
      <p:sp>
        <p:nvSpPr>
          <p:cNvPr id="13" name="TextBox 12"/>
          <p:cNvSpPr txBox="1"/>
          <p:nvPr/>
        </p:nvSpPr>
        <p:spPr>
          <a:xfrm>
            <a:off x="900000" y="5000000"/>
            <a:ext cx="10400000" cy="700000"/>
          </a:xfrm>
          <a:prstGeom prst="rect">
            <a:avLst/>
          </a:prstGeom>
          <a:noFill/>
        </p:spPr>
        <p:txBody>
          <a:bodyPr wrap="none" anchor="t" lIns="0" rIns="0" tIns="0" bIns="0">
            <a:spAutoFit/>
          </a:bodyPr>
          <a:lstStyle/>
          <a:p>
            <a:pPr algn="ctr">
              <a:lnSpc>
                <a:spcPct val="115000"/>
              </a:lnSpc>
            </a:pPr>
            <a:r>
              <a:rPr sz="3200" b="1">
                <a:solidFill>
                  <a:srgbClr val="E67000"/>
                </a:solidFill>
                <a:latin typeface="Yu Gothic"/>
              </a:rPr>
              <a:t>ご清聴ありがとうございました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